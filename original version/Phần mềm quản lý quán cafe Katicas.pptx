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Nunito"/>
      <p:regular r:id="rId38"/>
      <p:bold r:id="rId39"/>
      <p:italic r:id="rId40"/>
      <p:boldItalic r:id="rId41"/>
    </p:embeddedFont>
    <p:embeddedFont>
      <p:font typeface="Maven Pro"/>
      <p:regular r:id="rId42"/>
      <p:bold r:id="rId43"/>
    </p:embeddedFont>
    <p:embeddedFont>
      <p:font typeface="Delicious Handrawn"/>
      <p:regular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italic.fntdata"/><Relationship Id="rId20" Type="http://schemas.openxmlformats.org/officeDocument/2006/relationships/slide" Target="slides/slide15.xml"/><Relationship Id="rId42" Type="http://schemas.openxmlformats.org/officeDocument/2006/relationships/font" Target="fonts/MavenPro-regular.fntdata"/><Relationship Id="rId41" Type="http://schemas.openxmlformats.org/officeDocument/2006/relationships/font" Target="fonts/Nunito-boldItalic.fntdata"/><Relationship Id="rId22" Type="http://schemas.openxmlformats.org/officeDocument/2006/relationships/slide" Target="slides/slide17.xml"/><Relationship Id="rId44" Type="http://schemas.openxmlformats.org/officeDocument/2006/relationships/font" Target="fonts/DeliciousHandrawn-regular.fntdata"/><Relationship Id="rId21" Type="http://schemas.openxmlformats.org/officeDocument/2006/relationships/slide" Target="slides/slide16.xml"/><Relationship Id="rId43" Type="http://schemas.openxmlformats.org/officeDocument/2006/relationships/font" Target="fonts/MavenPro-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Nunito-bold.fntdata"/><Relationship Id="rId16" Type="http://schemas.openxmlformats.org/officeDocument/2006/relationships/slide" Target="slides/slide11.xml"/><Relationship Id="rId38" Type="http://schemas.openxmlformats.org/officeDocument/2006/relationships/font" Target="fonts/Nunit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2443afaee3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2443afaee3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2443afaee3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2443afaee3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20850da1c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20850da1c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2443afaee3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2443afaee3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2443afaee3_2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2443afaee3_2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25d5babed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25d5babed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2443afaee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2443afaee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25d5babe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25d5babe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2443afaee3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2443afaee3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25d5babed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25d5babed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2443afaee3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2443afaee3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25d5babed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25d5babed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2443afaee3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2443afaee3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25d5babed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25d5babed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2443afaee3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2443afaee3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25d5babed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25d5babed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2443afaee3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2443afaee3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25d5babed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25d5babed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2443afaee3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2443afaee3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25d5babed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25d5babed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2443afaee3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2443afaee3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25d5babed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25d5babed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2443afaee3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2443afaee3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25d5babed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25d5babed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2443afaee3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2443afaee3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2443afaee3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2443afaee3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2443afaee3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2443afaee3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2443afaee3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2443afaee3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2443afaee3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2443afaee3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2443afaee3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2443afaee3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2443afaee3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2443afaee3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307100"/>
            <a:ext cx="45396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vi"/>
              <a:t>Phần mềm quản lý quán cafe Katicas</a:t>
            </a:r>
            <a:endParaRPr/>
          </a:p>
        </p:txBody>
      </p:sp>
      <p:sp>
        <p:nvSpPr>
          <p:cNvPr id="278" name="Google Shape;278;p13"/>
          <p:cNvSpPr txBox="1"/>
          <p:nvPr>
            <p:ph idx="1" type="subTitle"/>
          </p:nvPr>
        </p:nvSpPr>
        <p:spPr>
          <a:xfrm>
            <a:off x="824000" y="3250250"/>
            <a:ext cx="4689300" cy="1397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vi"/>
              <a:t>Nhóm 8</a:t>
            </a:r>
            <a:endParaRPr/>
          </a:p>
          <a:p>
            <a:pPr indent="0" lvl="0" marL="0" rtl="0" algn="l">
              <a:spcBef>
                <a:spcPts val="0"/>
              </a:spcBef>
              <a:spcAft>
                <a:spcPts val="0"/>
              </a:spcAft>
              <a:buNone/>
            </a:pPr>
            <a:r>
              <a:rPr lang="vi"/>
              <a:t>Nguyễn Trần Trung Thạch</a:t>
            </a:r>
            <a:endParaRPr/>
          </a:p>
          <a:p>
            <a:pPr indent="0" lvl="0" marL="0" rtl="0" algn="l">
              <a:spcBef>
                <a:spcPts val="0"/>
              </a:spcBef>
              <a:spcAft>
                <a:spcPts val="0"/>
              </a:spcAft>
              <a:buNone/>
            </a:pPr>
            <a:r>
              <a:rPr lang="vi"/>
              <a:t>Võ Minh Thư</a:t>
            </a:r>
            <a:endParaRPr/>
          </a:p>
          <a:p>
            <a:pPr indent="0" lvl="0" marL="0" rtl="0" algn="l">
              <a:spcBef>
                <a:spcPts val="0"/>
              </a:spcBef>
              <a:spcAft>
                <a:spcPts val="0"/>
              </a:spcAft>
              <a:buNone/>
            </a:pPr>
            <a:r>
              <a:rPr lang="vi"/>
              <a:t>Tăng Cẩm Minh</a:t>
            </a:r>
            <a:endParaRPr/>
          </a:p>
          <a:p>
            <a:pPr indent="0" lvl="0" marL="0" rtl="0" algn="l">
              <a:spcBef>
                <a:spcPts val="0"/>
              </a:spcBef>
              <a:spcAft>
                <a:spcPts val="0"/>
              </a:spcAft>
              <a:buNone/>
            </a:pPr>
            <a:r>
              <a:rPr lang="vi"/>
              <a:t>Đỗ Đức Kỳ Vỹ</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6602700" cy="130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Bối cảnh kinh doanh</a:t>
            </a:r>
            <a:endParaRPr/>
          </a:p>
        </p:txBody>
      </p:sp>
      <p:sp>
        <p:nvSpPr>
          <p:cNvPr id="284" name="Google Shape;284;p14"/>
          <p:cNvSpPr txBox="1"/>
          <p:nvPr>
            <p:ph idx="1" type="body"/>
          </p:nvPr>
        </p:nvSpPr>
        <p:spPr>
          <a:xfrm>
            <a:off x="1303800" y="1659450"/>
            <a:ext cx="7030500" cy="2872200"/>
          </a:xfrm>
          <a:prstGeom prst="rect">
            <a:avLst/>
          </a:prstGeom>
        </p:spPr>
        <p:txBody>
          <a:bodyPr anchorCtr="0" anchor="t" bIns="91425" lIns="91425" spcFirstLastPara="1" rIns="91425" wrap="square" tIns="91425">
            <a:normAutofit/>
          </a:bodyPr>
          <a:lstStyle/>
          <a:p>
            <a:pPr indent="177800" lvl="0" marL="0" rtl="0" algn="just">
              <a:spcBef>
                <a:spcPts val="1200"/>
              </a:spcBef>
              <a:spcAft>
                <a:spcPts val="0"/>
              </a:spcAft>
              <a:buNone/>
            </a:pPr>
            <a:r>
              <a:rPr b="1" lang="vi" sz="1400">
                <a:solidFill>
                  <a:srgbClr val="000000"/>
                </a:solidFill>
                <a:latin typeface="Times New Roman"/>
                <a:ea typeface="Times New Roman"/>
                <a:cs typeface="Times New Roman"/>
                <a:sym typeface="Times New Roman"/>
              </a:rPr>
              <a:t>Phần mềm quản lý quán cà phê Katicas</a:t>
            </a:r>
            <a:r>
              <a:rPr lang="vi" sz="1400">
                <a:solidFill>
                  <a:srgbClr val="000000"/>
                </a:solidFill>
                <a:latin typeface="Times New Roman"/>
                <a:ea typeface="Times New Roman"/>
                <a:cs typeface="Times New Roman"/>
                <a:sym typeface="Times New Roman"/>
              </a:rPr>
              <a:t> cung cấp giải pháp cho việc quản lý các hoạt động hàng ngày của quán cà phê, từ </a:t>
            </a:r>
            <a:r>
              <a:rPr b="1" lang="vi" sz="1400">
                <a:solidFill>
                  <a:srgbClr val="000000"/>
                </a:solidFill>
                <a:latin typeface="Times New Roman"/>
                <a:ea typeface="Times New Roman"/>
                <a:cs typeface="Times New Roman"/>
                <a:sym typeface="Times New Roman"/>
              </a:rPr>
              <a:t>quản lý bán hàng, kho hàng, nhân viên, nhà cung cấp đến thống kê báo cáo và kiểm soát truy cập</a:t>
            </a:r>
            <a:r>
              <a:rPr lang="vi" sz="1400">
                <a:solidFill>
                  <a:srgbClr val="000000"/>
                </a:solidFill>
                <a:latin typeface="Times New Roman"/>
                <a:ea typeface="Times New Roman"/>
                <a:cs typeface="Times New Roman"/>
                <a:sym typeface="Times New Roman"/>
              </a:rPr>
              <a:t>.</a:t>
            </a:r>
            <a:endParaRPr sz="1400">
              <a:solidFill>
                <a:srgbClr val="000000"/>
              </a:solidFill>
              <a:latin typeface="Times New Roman"/>
              <a:ea typeface="Times New Roman"/>
              <a:cs typeface="Times New Roman"/>
              <a:sym typeface="Times New Roman"/>
            </a:endParaRPr>
          </a:p>
          <a:p>
            <a:pPr indent="177800" lvl="0" marL="0" rtl="0" algn="just">
              <a:spcBef>
                <a:spcPts val="1200"/>
              </a:spcBef>
              <a:spcAft>
                <a:spcPts val="0"/>
              </a:spcAft>
              <a:buNone/>
            </a:pPr>
            <a:r>
              <a:rPr lang="vi" sz="1400">
                <a:solidFill>
                  <a:srgbClr val="000000"/>
                </a:solidFill>
                <a:latin typeface="Times New Roman"/>
                <a:ea typeface="Times New Roman"/>
                <a:cs typeface="Times New Roman"/>
                <a:sym typeface="Times New Roman"/>
              </a:rPr>
              <a:t>Phần mềm được thiết kế thân thiện với người dùng, giúp chủ quán cà phê và nhân viên tối ưu hóa quy trình quản lý và vận hành hàng ngày, tiết kiệm chi phí và thời gian thông qua tự động hóa quy trình, nâng cao hiệu quả làm việc của nhân viên và chất lượng phục vụ khách hàng. </a:t>
            </a:r>
            <a:endParaRPr sz="1400">
              <a:solidFill>
                <a:srgbClr val="000000"/>
              </a:solidFill>
              <a:latin typeface="Times New Roman"/>
              <a:ea typeface="Times New Roman"/>
              <a:cs typeface="Times New Roman"/>
              <a:sym typeface="Times New Roman"/>
            </a:endParaRPr>
          </a:p>
          <a:p>
            <a:pPr indent="177800" lvl="0" marL="0" rtl="0" algn="just">
              <a:spcBef>
                <a:spcPts val="1200"/>
              </a:spcBef>
              <a:spcAft>
                <a:spcPts val="1200"/>
              </a:spcAft>
              <a:buNone/>
            </a:pPr>
            <a:r>
              <a:rPr lang="vi" sz="1400">
                <a:solidFill>
                  <a:srgbClr val="000000"/>
                </a:solidFill>
                <a:latin typeface="Times New Roman"/>
                <a:ea typeface="Times New Roman"/>
                <a:cs typeface="Times New Roman"/>
                <a:sym typeface="Times New Roman"/>
              </a:rPr>
              <a:t>Với </a:t>
            </a:r>
            <a:r>
              <a:rPr b="1" lang="vi" sz="1400">
                <a:solidFill>
                  <a:srgbClr val="000000"/>
                </a:solidFill>
                <a:latin typeface="Times New Roman"/>
                <a:ea typeface="Times New Roman"/>
                <a:cs typeface="Times New Roman"/>
                <a:sym typeface="Times New Roman"/>
              </a:rPr>
              <a:t>Katicas</a:t>
            </a:r>
            <a:r>
              <a:rPr lang="vi" sz="1400">
                <a:solidFill>
                  <a:srgbClr val="000000"/>
                </a:solidFill>
                <a:latin typeface="Times New Roman"/>
                <a:ea typeface="Times New Roman"/>
                <a:cs typeface="Times New Roman"/>
                <a:sym typeface="Times New Roman"/>
              </a:rPr>
              <a:t>, việc quản lý quán cà phê trở nên đơn giản, minh bạch và hiệu quả, giúp chủ quán tập trung vào việc phát triển kinh doanh và mang đến trải nghiệm tốt nhất cho khách hàng.</a:t>
            </a:r>
            <a:endParaRPr sz="1400"/>
          </a:p>
        </p:txBody>
      </p:sp>
      <p:cxnSp>
        <p:nvCxnSpPr>
          <p:cNvPr id="285" name="Google Shape;285;p14"/>
          <p:cNvCxnSpPr>
            <a:stCxn id="283" idx="1"/>
            <a:endCxn id="283" idx="3"/>
          </p:cNvCxnSpPr>
          <p:nvPr/>
        </p:nvCxnSpPr>
        <p:spPr>
          <a:xfrm>
            <a:off x="1303800" y="1252425"/>
            <a:ext cx="66027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type="title"/>
          </p:nvPr>
        </p:nvSpPr>
        <p:spPr>
          <a:xfrm>
            <a:off x="1303800" y="598575"/>
            <a:ext cx="6591300" cy="115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Bối cảnh kinh doanh</a:t>
            </a:r>
            <a:endParaRPr/>
          </a:p>
        </p:txBody>
      </p:sp>
      <p:sp>
        <p:nvSpPr>
          <p:cNvPr id="291" name="Google Shape;291;p15"/>
          <p:cNvSpPr txBox="1"/>
          <p:nvPr>
            <p:ph idx="1" type="body"/>
          </p:nvPr>
        </p:nvSpPr>
        <p:spPr>
          <a:xfrm>
            <a:off x="584550" y="1188900"/>
            <a:ext cx="7974900" cy="385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vi"/>
              <a:t>Phần mềm gồm các chức năng sau</a:t>
            </a:r>
            <a:br>
              <a:rPr lang="vi"/>
            </a:br>
            <a:r>
              <a:rPr b="1" lang="vi">
                <a:solidFill>
                  <a:srgbClr val="000000"/>
                </a:solidFill>
                <a:latin typeface="Times New Roman"/>
                <a:ea typeface="Times New Roman"/>
                <a:cs typeface="Times New Roman"/>
                <a:sym typeface="Times New Roman"/>
              </a:rPr>
              <a:t>Quản lý menu</a:t>
            </a:r>
            <a:r>
              <a:rPr lang="vi">
                <a:solidFill>
                  <a:srgbClr val="000000"/>
                </a:solidFill>
                <a:latin typeface="Times New Roman"/>
                <a:ea typeface="Times New Roman"/>
                <a:cs typeface="Times New Roman"/>
                <a:sym typeface="Times New Roman"/>
              </a:rPr>
              <a:t>: Thêm, sửa, cập nhật món ăn, thực phẩm, quản lý sản phẩm theo Món, Loại, Trạng thái.</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vi">
                <a:solidFill>
                  <a:srgbClr val="000000"/>
                </a:solidFill>
                <a:latin typeface="Times New Roman"/>
                <a:ea typeface="Times New Roman"/>
                <a:cs typeface="Times New Roman"/>
                <a:sym typeface="Times New Roman"/>
              </a:rPr>
              <a:t>Quản lý kho hàng</a:t>
            </a:r>
            <a:r>
              <a:rPr lang="vi">
                <a:solidFill>
                  <a:srgbClr val="000000"/>
                </a:solidFill>
                <a:latin typeface="Times New Roman"/>
                <a:ea typeface="Times New Roman"/>
                <a:cs typeface="Times New Roman"/>
                <a:sym typeface="Times New Roman"/>
              </a:rPr>
              <a:t>: Tạo, chỉnh sửa và theo dõi đơn hàng, tìm kiếm theo Nhà cung cấp, ngày đặt, trạng thái (Đặt hàng); Tiếp nhận, xác nhận và nhập hàng hóa vào kho sau khi nhận hóa đơn từ nhà cung cấp. (Nhập hàng); Theo dõi số lượng, giá và trạng thái hàng hóa trong kho, thêm và cập nhật thông tin sản phẩm. (Quản lý tồn kho).</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vi">
                <a:solidFill>
                  <a:srgbClr val="000000"/>
                </a:solidFill>
                <a:latin typeface="Times New Roman"/>
                <a:ea typeface="Times New Roman"/>
                <a:cs typeface="Times New Roman"/>
                <a:sym typeface="Times New Roman"/>
              </a:rPr>
              <a:t>Quản lý nhà cung cấp</a:t>
            </a:r>
            <a:r>
              <a:rPr lang="vi">
                <a:solidFill>
                  <a:srgbClr val="000000"/>
                </a:solidFill>
                <a:latin typeface="Times New Roman"/>
                <a:ea typeface="Times New Roman"/>
                <a:cs typeface="Times New Roman"/>
                <a:sym typeface="Times New Roman"/>
              </a:rPr>
              <a:t>: Thêm, sửa, cập nhật thông tin nhà cung cấp, tìm kiếm và quản lý lịch sử đơn hàng.</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vi">
                <a:solidFill>
                  <a:srgbClr val="000000"/>
                </a:solidFill>
                <a:latin typeface="Times New Roman"/>
                <a:ea typeface="Times New Roman"/>
                <a:cs typeface="Times New Roman"/>
                <a:sym typeface="Times New Roman"/>
              </a:rPr>
              <a:t>Quản lý nhân viên</a:t>
            </a:r>
            <a:r>
              <a:rPr lang="vi">
                <a:solidFill>
                  <a:srgbClr val="000000"/>
                </a:solidFill>
                <a:latin typeface="Times New Roman"/>
                <a:ea typeface="Times New Roman"/>
                <a:cs typeface="Times New Roman"/>
                <a:sym typeface="Times New Roman"/>
              </a:rPr>
              <a:t>: Thêm, sửa, cập nhật thông tin nhân viên, phân quyền (Admin, Nhân viên), theo dõi trạng thái và lương.</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vi">
                <a:solidFill>
                  <a:srgbClr val="000000"/>
                </a:solidFill>
                <a:latin typeface="Times New Roman"/>
                <a:ea typeface="Times New Roman"/>
                <a:cs typeface="Times New Roman"/>
                <a:sym typeface="Times New Roman"/>
              </a:rPr>
              <a:t>Lập hóa đơn:</a:t>
            </a:r>
            <a:r>
              <a:rPr lang="vi">
                <a:solidFill>
                  <a:srgbClr val="000000"/>
                </a:solidFill>
                <a:latin typeface="Times New Roman"/>
                <a:ea typeface="Times New Roman"/>
                <a:cs typeface="Times New Roman"/>
                <a:sym typeface="Times New Roman"/>
              </a:rPr>
              <a:t> Nhân viên lập hóa đơn thanh toán, xem và in hóa đơn từ yêu cầu của khách hàng.</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vi">
                <a:solidFill>
                  <a:srgbClr val="000000"/>
                </a:solidFill>
                <a:latin typeface="Times New Roman"/>
                <a:ea typeface="Times New Roman"/>
                <a:cs typeface="Times New Roman"/>
                <a:sym typeface="Times New Roman"/>
              </a:rPr>
              <a:t>Lịch sử bán hàng</a:t>
            </a:r>
            <a:r>
              <a:rPr lang="vi">
                <a:solidFill>
                  <a:srgbClr val="000000"/>
                </a:solidFill>
                <a:latin typeface="Times New Roman"/>
                <a:ea typeface="Times New Roman"/>
                <a:cs typeface="Times New Roman"/>
                <a:sym typeface="Times New Roman"/>
              </a:rPr>
              <a:t>: Quản lý và xem chi tiết các hóa đơn đã bán, bao gồm thông tin sản phẩm, số lượng và giá trị đơn hàng.</a:t>
            </a:r>
            <a:endParaRPr>
              <a:solidFill>
                <a:srgbClr val="000000"/>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vi">
                <a:solidFill>
                  <a:srgbClr val="000000"/>
                </a:solidFill>
                <a:latin typeface="Times New Roman"/>
                <a:ea typeface="Times New Roman"/>
                <a:cs typeface="Times New Roman"/>
                <a:sym typeface="Times New Roman"/>
              </a:rPr>
              <a:t>Thống kê, báo cáo</a:t>
            </a:r>
            <a:r>
              <a:rPr lang="vi">
                <a:solidFill>
                  <a:srgbClr val="000000"/>
                </a:solidFill>
                <a:latin typeface="Times New Roman"/>
                <a:ea typeface="Times New Roman"/>
                <a:cs typeface="Times New Roman"/>
                <a:sym typeface="Times New Roman"/>
              </a:rPr>
              <a:t>: Quản lý báo cáo doanh thu, hiệu suất bán hàng, sản phẩm bán chạy, tổng số hóa đơn và thu nhập.</a:t>
            </a:r>
            <a:endParaRPr>
              <a:solidFill>
                <a:srgbClr val="000000"/>
              </a:solidFill>
              <a:latin typeface="Times New Roman"/>
              <a:ea typeface="Times New Roman"/>
              <a:cs typeface="Times New Roman"/>
              <a:sym typeface="Times New Roman"/>
            </a:endParaRPr>
          </a:p>
        </p:txBody>
      </p:sp>
      <p:cxnSp>
        <p:nvCxnSpPr>
          <p:cNvPr id="292" name="Google Shape;292;p15"/>
          <p:cNvCxnSpPr>
            <a:stCxn id="290" idx="1"/>
            <a:endCxn id="290" idx="3"/>
          </p:cNvCxnSpPr>
          <p:nvPr/>
        </p:nvCxnSpPr>
        <p:spPr>
          <a:xfrm>
            <a:off x="1303800" y="1177875"/>
            <a:ext cx="65913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Ứng dụng khảo sát</a:t>
            </a:r>
            <a:endParaRPr/>
          </a:p>
        </p:txBody>
      </p:sp>
      <p:sp>
        <p:nvSpPr>
          <p:cNvPr id="298" name="Google Shape;298;p16"/>
          <p:cNvSpPr txBox="1"/>
          <p:nvPr>
            <p:ph idx="1" type="body"/>
          </p:nvPr>
        </p:nvSpPr>
        <p:spPr>
          <a:xfrm>
            <a:off x="1303800" y="1478550"/>
            <a:ext cx="7030500" cy="305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sz="1800">
                <a:latin typeface="Times New Roman"/>
                <a:ea typeface="Times New Roman"/>
                <a:cs typeface="Times New Roman"/>
                <a:sym typeface="Times New Roman"/>
              </a:rPr>
              <a:t>Cafe Katicas tiến hành </a:t>
            </a:r>
            <a:r>
              <a:rPr lang="vi" sz="1800">
                <a:latin typeface="Times New Roman"/>
                <a:ea typeface="Times New Roman"/>
                <a:cs typeface="Times New Roman"/>
                <a:sym typeface="Times New Roman"/>
              </a:rPr>
              <a:t>khảo</a:t>
            </a:r>
            <a:r>
              <a:rPr lang="vi" sz="1800">
                <a:latin typeface="Times New Roman"/>
                <a:ea typeface="Times New Roman"/>
                <a:cs typeface="Times New Roman"/>
                <a:sym typeface="Times New Roman"/>
              </a:rPr>
              <a:t> sát các hệ thống quản lý hiện tại như PosApp hay KiotViet các chức năng như:</a:t>
            </a:r>
            <a:endParaRPr sz="1800">
              <a:latin typeface="Times New Roman"/>
              <a:ea typeface="Times New Roman"/>
              <a:cs typeface="Times New Roman"/>
              <a:sym typeface="Times New Roman"/>
            </a:endParaRPr>
          </a:p>
          <a:p>
            <a:pPr indent="-342900" lvl="0" marL="457200" rtl="0" algn="l">
              <a:spcBef>
                <a:spcPts val="1200"/>
              </a:spcBef>
              <a:spcAft>
                <a:spcPts val="0"/>
              </a:spcAft>
              <a:buSzPts val="1800"/>
              <a:buFont typeface="Times New Roman"/>
              <a:buChar char="+"/>
            </a:pPr>
            <a:r>
              <a:rPr lang="vi" sz="1800">
                <a:latin typeface="Times New Roman"/>
                <a:ea typeface="Times New Roman"/>
                <a:cs typeface="Times New Roman"/>
                <a:sym typeface="Times New Roman"/>
              </a:rPr>
              <a:t>Đặt hàng.</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vi" sz="1800">
                <a:latin typeface="Times New Roman"/>
                <a:ea typeface="Times New Roman"/>
                <a:cs typeface="Times New Roman"/>
                <a:sym typeface="Times New Roman"/>
              </a:rPr>
              <a:t>Nhập hàng.</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vi" sz="1800">
                <a:latin typeface="Times New Roman"/>
                <a:ea typeface="Times New Roman"/>
                <a:cs typeface="Times New Roman"/>
                <a:sym typeface="Times New Roman"/>
              </a:rPr>
              <a:t>Lập hóa đơn.</a:t>
            </a:r>
            <a:endParaRPr sz="1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ph type="title"/>
          </p:nvPr>
        </p:nvSpPr>
        <p:spPr>
          <a:xfrm>
            <a:off x="1120475" y="600275"/>
            <a:ext cx="3303600" cy="114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Conceptual Model</a:t>
            </a:r>
            <a:endParaRPr/>
          </a:p>
        </p:txBody>
      </p:sp>
      <p:pic>
        <p:nvPicPr>
          <p:cNvPr id="304" name="Google Shape;304;p17"/>
          <p:cNvPicPr preferRelativeResize="0"/>
          <p:nvPr/>
        </p:nvPicPr>
        <p:blipFill>
          <a:blip r:embed="rId3">
            <a:alphaModFix/>
          </a:blip>
          <a:stretch>
            <a:fillRect/>
          </a:stretch>
        </p:blipFill>
        <p:spPr>
          <a:xfrm>
            <a:off x="4572000" y="0"/>
            <a:ext cx="4533720" cy="5143500"/>
          </a:xfrm>
          <a:prstGeom prst="rect">
            <a:avLst/>
          </a:prstGeom>
          <a:noFill/>
          <a:ln>
            <a:noFill/>
          </a:ln>
        </p:spPr>
      </p:pic>
      <p:cxnSp>
        <p:nvCxnSpPr>
          <p:cNvPr id="305" name="Google Shape;305;p17"/>
          <p:cNvCxnSpPr>
            <a:stCxn id="303" idx="1"/>
            <a:endCxn id="303" idx="3"/>
          </p:cNvCxnSpPr>
          <p:nvPr/>
        </p:nvCxnSpPr>
        <p:spPr>
          <a:xfrm>
            <a:off x="1120475" y="1172975"/>
            <a:ext cx="3303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8"/>
          <p:cNvSpPr txBox="1"/>
          <p:nvPr>
            <p:ph type="title"/>
          </p:nvPr>
        </p:nvSpPr>
        <p:spPr>
          <a:xfrm>
            <a:off x="1303800" y="518375"/>
            <a:ext cx="6602700" cy="112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 Đăng nhập</a:t>
            </a:r>
            <a:endParaRPr/>
          </a:p>
        </p:txBody>
      </p:sp>
      <p:pic>
        <p:nvPicPr>
          <p:cNvPr id="311" name="Google Shape;311;p18"/>
          <p:cNvPicPr preferRelativeResize="0"/>
          <p:nvPr/>
        </p:nvPicPr>
        <p:blipFill>
          <a:blip r:embed="rId3">
            <a:alphaModFix/>
          </a:blip>
          <a:stretch>
            <a:fillRect/>
          </a:stretch>
        </p:blipFill>
        <p:spPr>
          <a:xfrm>
            <a:off x="2705350" y="1269150"/>
            <a:ext cx="3733300" cy="3596300"/>
          </a:xfrm>
          <a:prstGeom prst="rect">
            <a:avLst/>
          </a:prstGeom>
          <a:noFill/>
          <a:ln>
            <a:noFill/>
          </a:ln>
        </p:spPr>
      </p:pic>
      <p:cxnSp>
        <p:nvCxnSpPr>
          <p:cNvPr id="312" name="Google Shape;312;p18"/>
          <p:cNvCxnSpPr>
            <a:stCxn id="310" idx="1"/>
            <a:endCxn id="310" idx="3"/>
          </p:cNvCxnSpPr>
          <p:nvPr/>
        </p:nvCxnSpPr>
        <p:spPr>
          <a:xfrm>
            <a:off x="1303800" y="1080575"/>
            <a:ext cx="66027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9"/>
          <p:cNvSpPr txBox="1"/>
          <p:nvPr>
            <p:ph type="title"/>
          </p:nvPr>
        </p:nvSpPr>
        <p:spPr>
          <a:xfrm>
            <a:off x="412400" y="0"/>
            <a:ext cx="3633600" cy="999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vi"/>
              <a:t>Đăng nhập</a:t>
            </a:r>
            <a:endParaRPr/>
          </a:p>
          <a:p>
            <a:pPr indent="0" lvl="0" marL="0" rtl="0" algn="l">
              <a:spcBef>
                <a:spcPts val="0"/>
              </a:spcBef>
              <a:spcAft>
                <a:spcPts val="0"/>
              </a:spcAft>
              <a:buNone/>
            </a:pPr>
            <a:r>
              <a:rPr lang="vi"/>
              <a:t>	</a:t>
            </a:r>
            <a:endParaRPr/>
          </a:p>
        </p:txBody>
      </p:sp>
      <p:sp>
        <p:nvSpPr>
          <p:cNvPr id="318" name="Google Shape;318;p19"/>
          <p:cNvSpPr txBox="1"/>
          <p:nvPr/>
        </p:nvSpPr>
        <p:spPr>
          <a:xfrm>
            <a:off x="1090550" y="772125"/>
            <a:ext cx="43416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2000">
                <a:solidFill>
                  <a:schemeClr val="dk2"/>
                </a:solidFill>
                <a:latin typeface="Maven Pro"/>
                <a:ea typeface="Maven Pro"/>
                <a:cs typeface="Maven Pro"/>
                <a:sym typeface="Maven Pro"/>
              </a:rPr>
              <a:t>Các bước thực hiện chức năng:</a:t>
            </a:r>
            <a:endParaRPr sz="500">
              <a:solidFill>
                <a:schemeClr val="dk2"/>
              </a:solidFill>
              <a:latin typeface="Nunito"/>
              <a:ea typeface="Nunito"/>
              <a:cs typeface="Nunito"/>
              <a:sym typeface="Nunito"/>
            </a:endParaRPr>
          </a:p>
        </p:txBody>
      </p:sp>
      <p:cxnSp>
        <p:nvCxnSpPr>
          <p:cNvPr id="319" name="Google Shape;319;p19"/>
          <p:cNvCxnSpPr>
            <a:stCxn id="317" idx="1"/>
            <a:endCxn id="317" idx="3"/>
          </p:cNvCxnSpPr>
          <p:nvPr/>
        </p:nvCxnSpPr>
        <p:spPr>
          <a:xfrm>
            <a:off x="412400" y="499650"/>
            <a:ext cx="3633600" cy="0"/>
          </a:xfrm>
          <a:prstGeom prst="straightConnector1">
            <a:avLst/>
          </a:prstGeom>
          <a:noFill/>
          <a:ln cap="flat" cmpd="sng" w="28575">
            <a:solidFill>
              <a:schemeClr val="dk2"/>
            </a:solidFill>
            <a:prstDash val="solid"/>
            <a:round/>
            <a:headEnd len="med" w="med" type="none"/>
            <a:tailEnd len="med" w="med" type="none"/>
          </a:ln>
        </p:spPr>
      </p:cxnSp>
      <p:pic>
        <p:nvPicPr>
          <p:cNvPr id="320" name="Google Shape;320;p19"/>
          <p:cNvPicPr preferRelativeResize="0"/>
          <p:nvPr/>
        </p:nvPicPr>
        <p:blipFill>
          <a:blip r:embed="rId3">
            <a:alphaModFix/>
          </a:blip>
          <a:stretch>
            <a:fillRect/>
          </a:stretch>
        </p:blipFill>
        <p:spPr>
          <a:xfrm>
            <a:off x="4572000" y="1189450"/>
            <a:ext cx="4043550" cy="3954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0"/>
          <p:cNvSpPr txBox="1"/>
          <p:nvPr>
            <p:ph type="title"/>
          </p:nvPr>
        </p:nvSpPr>
        <p:spPr>
          <a:xfrm>
            <a:off x="1182200" y="598575"/>
            <a:ext cx="7732500" cy="112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 Quản lý nhân viên và phân quyền</a:t>
            </a:r>
            <a:endParaRPr/>
          </a:p>
        </p:txBody>
      </p:sp>
      <p:pic>
        <p:nvPicPr>
          <p:cNvPr id="326" name="Google Shape;326;p20"/>
          <p:cNvPicPr preferRelativeResize="0"/>
          <p:nvPr/>
        </p:nvPicPr>
        <p:blipFill>
          <a:blip r:embed="rId3">
            <a:alphaModFix/>
          </a:blip>
          <a:stretch>
            <a:fillRect/>
          </a:stretch>
        </p:blipFill>
        <p:spPr>
          <a:xfrm>
            <a:off x="571150" y="1779188"/>
            <a:ext cx="8001700" cy="1585125"/>
          </a:xfrm>
          <a:prstGeom prst="rect">
            <a:avLst/>
          </a:prstGeom>
          <a:noFill/>
          <a:ln>
            <a:noFill/>
          </a:ln>
        </p:spPr>
      </p:pic>
      <p:cxnSp>
        <p:nvCxnSpPr>
          <p:cNvPr id="327" name="Google Shape;327;p20"/>
          <p:cNvCxnSpPr>
            <a:stCxn id="325" idx="1"/>
            <a:endCxn id="325" idx="3"/>
          </p:cNvCxnSpPr>
          <p:nvPr/>
        </p:nvCxnSpPr>
        <p:spPr>
          <a:xfrm>
            <a:off x="1182200" y="1160775"/>
            <a:ext cx="77325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1"/>
          <p:cNvSpPr txBox="1"/>
          <p:nvPr>
            <p:ph type="title"/>
          </p:nvPr>
        </p:nvSpPr>
        <p:spPr>
          <a:xfrm>
            <a:off x="412400" y="0"/>
            <a:ext cx="53634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Quản lý nhân viên và phân quyền</a:t>
            </a:r>
            <a:endParaRPr/>
          </a:p>
          <a:p>
            <a:pPr indent="0" lvl="0" marL="0" rtl="0" algn="l">
              <a:spcBef>
                <a:spcPts val="0"/>
              </a:spcBef>
              <a:spcAft>
                <a:spcPts val="0"/>
              </a:spcAft>
              <a:buNone/>
            </a:pPr>
            <a:r>
              <a:rPr lang="vi"/>
              <a:t>	</a:t>
            </a:r>
            <a:endParaRPr/>
          </a:p>
        </p:txBody>
      </p:sp>
      <p:pic>
        <p:nvPicPr>
          <p:cNvPr id="333" name="Google Shape;333;p21"/>
          <p:cNvPicPr preferRelativeResize="0"/>
          <p:nvPr/>
        </p:nvPicPr>
        <p:blipFill>
          <a:blip r:embed="rId3">
            <a:alphaModFix/>
          </a:blip>
          <a:stretch>
            <a:fillRect/>
          </a:stretch>
        </p:blipFill>
        <p:spPr>
          <a:xfrm>
            <a:off x="5181375" y="772125"/>
            <a:ext cx="3756175" cy="4307075"/>
          </a:xfrm>
          <a:prstGeom prst="rect">
            <a:avLst/>
          </a:prstGeom>
          <a:noFill/>
          <a:ln>
            <a:noFill/>
          </a:ln>
        </p:spPr>
      </p:pic>
      <p:sp>
        <p:nvSpPr>
          <p:cNvPr id="334" name="Google Shape;334;p21"/>
          <p:cNvSpPr txBox="1"/>
          <p:nvPr/>
        </p:nvSpPr>
        <p:spPr>
          <a:xfrm>
            <a:off x="1090550" y="772125"/>
            <a:ext cx="43416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2000">
                <a:solidFill>
                  <a:schemeClr val="dk2"/>
                </a:solidFill>
                <a:latin typeface="Maven Pro"/>
                <a:ea typeface="Maven Pro"/>
                <a:cs typeface="Maven Pro"/>
                <a:sym typeface="Maven Pro"/>
              </a:rPr>
              <a:t>Các bước thực hiện chức năng:</a:t>
            </a:r>
            <a:endParaRPr sz="500">
              <a:solidFill>
                <a:schemeClr val="dk2"/>
              </a:solidFill>
              <a:latin typeface="Nunito"/>
              <a:ea typeface="Nunito"/>
              <a:cs typeface="Nunito"/>
              <a:sym typeface="Nunito"/>
            </a:endParaRPr>
          </a:p>
        </p:txBody>
      </p:sp>
      <p:cxnSp>
        <p:nvCxnSpPr>
          <p:cNvPr id="335" name="Google Shape;335;p21"/>
          <p:cNvCxnSpPr>
            <a:stCxn id="332" idx="1"/>
            <a:endCxn id="332" idx="3"/>
          </p:cNvCxnSpPr>
          <p:nvPr/>
        </p:nvCxnSpPr>
        <p:spPr>
          <a:xfrm>
            <a:off x="412400" y="499650"/>
            <a:ext cx="53634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2"/>
          <p:cNvSpPr txBox="1"/>
          <p:nvPr>
            <p:ph type="title"/>
          </p:nvPr>
        </p:nvSpPr>
        <p:spPr>
          <a:xfrm>
            <a:off x="1303800" y="598575"/>
            <a:ext cx="6625800" cy="119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 Nhập hàng</a:t>
            </a:r>
            <a:endParaRPr/>
          </a:p>
        </p:txBody>
      </p:sp>
      <p:pic>
        <p:nvPicPr>
          <p:cNvPr id="341" name="Google Shape;341;p22"/>
          <p:cNvPicPr preferRelativeResize="0"/>
          <p:nvPr/>
        </p:nvPicPr>
        <p:blipFill>
          <a:blip r:embed="rId3">
            <a:alphaModFix/>
          </a:blip>
          <a:stretch>
            <a:fillRect/>
          </a:stretch>
        </p:blipFill>
        <p:spPr>
          <a:xfrm>
            <a:off x="630549" y="1790950"/>
            <a:ext cx="7882900" cy="1561600"/>
          </a:xfrm>
          <a:prstGeom prst="rect">
            <a:avLst/>
          </a:prstGeom>
          <a:noFill/>
          <a:ln>
            <a:noFill/>
          </a:ln>
        </p:spPr>
      </p:pic>
      <p:cxnSp>
        <p:nvCxnSpPr>
          <p:cNvPr id="342" name="Google Shape;342;p22"/>
          <p:cNvCxnSpPr>
            <a:stCxn id="340" idx="1"/>
            <a:endCxn id="340" idx="3"/>
          </p:cNvCxnSpPr>
          <p:nvPr/>
        </p:nvCxnSpPr>
        <p:spPr>
          <a:xfrm>
            <a:off x="1303800" y="1194825"/>
            <a:ext cx="66258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3"/>
          <p:cNvSpPr txBox="1"/>
          <p:nvPr>
            <p:ph type="title"/>
          </p:nvPr>
        </p:nvSpPr>
        <p:spPr>
          <a:xfrm>
            <a:off x="664425" y="0"/>
            <a:ext cx="2087100" cy="999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vi"/>
              <a:t>Nhập hàng</a:t>
            </a:r>
            <a:endParaRPr/>
          </a:p>
          <a:p>
            <a:pPr indent="0" lvl="0" marL="0" rtl="0" algn="l">
              <a:spcBef>
                <a:spcPts val="0"/>
              </a:spcBef>
              <a:spcAft>
                <a:spcPts val="0"/>
              </a:spcAft>
              <a:buNone/>
            </a:pPr>
            <a:r>
              <a:rPr lang="vi"/>
              <a:t>	</a:t>
            </a:r>
            <a:endParaRPr/>
          </a:p>
        </p:txBody>
      </p:sp>
      <p:sp>
        <p:nvSpPr>
          <p:cNvPr id="348" name="Google Shape;348;p23"/>
          <p:cNvSpPr txBox="1"/>
          <p:nvPr/>
        </p:nvSpPr>
        <p:spPr>
          <a:xfrm>
            <a:off x="1090550" y="726275"/>
            <a:ext cx="4341600" cy="60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2000">
                <a:solidFill>
                  <a:schemeClr val="dk2"/>
                </a:solidFill>
                <a:latin typeface="Maven Pro"/>
                <a:ea typeface="Maven Pro"/>
                <a:cs typeface="Maven Pro"/>
                <a:sym typeface="Maven Pro"/>
              </a:rPr>
              <a:t>Các bước thực hiện chức năng:</a:t>
            </a:r>
            <a:endParaRPr sz="500">
              <a:solidFill>
                <a:schemeClr val="dk2"/>
              </a:solidFill>
              <a:latin typeface="Nunito"/>
              <a:ea typeface="Nunito"/>
              <a:cs typeface="Nunito"/>
              <a:sym typeface="Nunito"/>
            </a:endParaRPr>
          </a:p>
        </p:txBody>
      </p:sp>
      <p:cxnSp>
        <p:nvCxnSpPr>
          <p:cNvPr id="349" name="Google Shape;349;p23"/>
          <p:cNvCxnSpPr>
            <a:stCxn id="347" idx="1"/>
            <a:endCxn id="347" idx="3"/>
          </p:cNvCxnSpPr>
          <p:nvPr/>
        </p:nvCxnSpPr>
        <p:spPr>
          <a:xfrm>
            <a:off x="664425" y="499650"/>
            <a:ext cx="2087100" cy="0"/>
          </a:xfrm>
          <a:prstGeom prst="straightConnector1">
            <a:avLst/>
          </a:prstGeom>
          <a:noFill/>
          <a:ln cap="flat" cmpd="sng" w="28575">
            <a:solidFill>
              <a:schemeClr val="dk2"/>
            </a:solidFill>
            <a:prstDash val="solid"/>
            <a:round/>
            <a:headEnd len="med" w="med" type="none"/>
            <a:tailEnd len="med" w="med" type="none"/>
          </a:ln>
        </p:spPr>
      </p:cxnSp>
      <p:pic>
        <p:nvPicPr>
          <p:cNvPr id="350" name="Google Shape;350;p23"/>
          <p:cNvPicPr preferRelativeResize="0"/>
          <p:nvPr/>
        </p:nvPicPr>
        <p:blipFill>
          <a:blip r:embed="rId3">
            <a:alphaModFix/>
          </a:blip>
          <a:stretch>
            <a:fillRect/>
          </a:stretch>
        </p:blipFill>
        <p:spPr>
          <a:xfrm>
            <a:off x="5475287" y="13200"/>
            <a:ext cx="3668713" cy="5117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4"/>
          <p:cNvSpPr txBox="1"/>
          <p:nvPr>
            <p:ph type="title"/>
          </p:nvPr>
        </p:nvSpPr>
        <p:spPr>
          <a:xfrm>
            <a:off x="1303800" y="646100"/>
            <a:ext cx="6637200" cy="109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 Quản lý Menu</a:t>
            </a:r>
            <a:endParaRPr/>
          </a:p>
        </p:txBody>
      </p:sp>
      <p:pic>
        <p:nvPicPr>
          <p:cNvPr id="356" name="Google Shape;356;p24"/>
          <p:cNvPicPr preferRelativeResize="0"/>
          <p:nvPr/>
        </p:nvPicPr>
        <p:blipFill>
          <a:blip r:embed="rId3">
            <a:alphaModFix/>
          </a:blip>
          <a:stretch>
            <a:fillRect/>
          </a:stretch>
        </p:blipFill>
        <p:spPr>
          <a:xfrm>
            <a:off x="969127" y="2071050"/>
            <a:ext cx="7205750" cy="1427450"/>
          </a:xfrm>
          <a:prstGeom prst="rect">
            <a:avLst/>
          </a:prstGeom>
          <a:noFill/>
          <a:ln>
            <a:noFill/>
          </a:ln>
        </p:spPr>
      </p:pic>
      <p:cxnSp>
        <p:nvCxnSpPr>
          <p:cNvPr id="357" name="Google Shape;357;p24"/>
          <p:cNvCxnSpPr>
            <a:stCxn id="355" idx="1"/>
            <a:endCxn id="355" idx="3"/>
          </p:cNvCxnSpPr>
          <p:nvPr/>
        </p:nvCxnSpPr>
        <p:spPr>
          <a:xfrm>
            <a:off x="1303800" y="1196000"/>
            <a:ext cx="66372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5"/>
          <p:cNvSpPr txBox="1"/>
          <p:nvPr>
            <p:ph type="title"/>
          </p:nvPr>
        </p:nvSpPr>
        <p:spPr>
          <a:xfrm>
            <a:off x="412400" y="0"/>
            <a:ext cx="2476800" cy="999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vi"/>
              <a:t>Quản lý Menu</a:t>
            </a:r>
            <a:endParaRPr/>
          </a:p>
          <a:p>
            <a:pPr indent="0" lvl="0" marL="0" rtl="0" algn="l">
              <a:spcBef>
                <a:spcPts val="0"/>
              </a:spcBef>
              <a:spcAft>
                <a:spcPts val="0"/>
              </a:spcAft>
              <a:buNone/>
            </a:pPr>
            <a:r>
              <a:rPr lang="vi"/>
              <a:t>	</a:t>
            </a:r>
            <a:endParaRPr/>
          </a:p>
        </p:txBody>
      </p:sp>
      <p:sp>
        <p:nvSpPr>
          <p:cNvPr id="363" name="Google Shape;363;p25"/>
          <p:cNvSpPr txBox="1"/>
          <p:nvPr/>
        </p:nvSpPr>
        <p:spPr>
          <a:xfrm>
            <a:off x="1090550" y="772125"/>
            <a:ext cx="43416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2000">
                <a:solidFill>
                  <a:schemeClr val="dk2"/>
                </a:solidFill>
                <a:latin typeface="Maven Pro"/>
                <a:ea typeface="Maven Pro"/>
                <a:cs typeface="Maven Pro"/>
                <a:sym typeface="Maven Pro"/>
              </a:rPr>
              <a:t>Các bước thực hiện chức năng:</a:t>
            </a:r>
            <a:endParaRPr sz="500">
              <a:solidFill>
                <a:schemeClr val="dk2"/>
              </a:solidFill>
              <a:latin typeface="Nunito"/>
              <a:ea typeface="Nunito"/>
              <a:cs typeface="Nunito"/>
              <a:sym typeface="Nunito"/>
            </a:endParaRPr>
          </a:p>
        </p:txBody>
      </p:sp>
      <p:pic>
        <p:nvPicPr>
          <p:cNvPr id="364" name="Google Shape;364;p25"/>
          <p:cNvPicPr preferRelativeResize="0"/>
          <p:nvPr/>
        </p:nvPicPr>
        <p:blipFill>
          <a:blip r:embed="rId3">
            <a:alphaModFix/>
          </a:blip>
          <a:stretch>
            <a:fillRect/>
          </a:stretch>
        </p:blipFill>
        <p:spPr>
          <a:xfrm>
            <a:off x="5174149" y="575075"/>
            <a:ext cx="3969850" cy="4568425"/>
          </a:xfrm>
          <a:prstGeom prst="rect">
            <a:avLst/>
          </a:prstGeom>
          <a:noFill/>
          <a:ln>
            <a:noFill/>
          </a:ln>
        </p:spPr>
      </p:pic>
      <p:cxnSp>
        <p:nvCxnSpPr>
          <p:cNvPr id="365" name="Google Shape;365;p25"/>
          <p:cNvCxnSpPr>
            <a:stCxn id="362" idx="1"/>
            <a:endCxn id="362" idx="3"/>
          </p:cNvCxnSpPr>
          <p:nvPr/>
        </p:nvCxnSpPr>
        <p:spPr>
          <a:xfrm>
            <a:off x="412400" y="499650"/>
            <a:ext cx="24768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6"/>
          <p:cNvSpPr txBox="1"/>
          <p:nvPr>
            <p:ph type="title"/>
          </p:nvPr>
        </p:nvSpPr>
        <p:spPr>
          <a:xfrm>
            <a:off x="1303800" y="598575"/>
            <a:ext cx="6625800" cy="114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 Quản lý nhà cung cấp</a:t>
            </a:r>
            <a:endParaRPr/>
          </a:p>
        </p:txBody>
      </p:sp>
      <p:pic>
        <p:nvPicPr>
          <p:cNvPr id="371" name="Google Shape;371;p26"/>
          <p:cNvPicPr preferRelativeResize="0"/>
          <p:nvPr/>
        </p:nvPicPr>
        <p:blipFill>
          <a:blip r:embed="rId3">
            <a:alphaModFix/>
          </a:blip>
          <a:stretch>
            <a:fillRect/>
          </a:stretch>
        </p:blipFill>
        <p:spPr>
          <a:xfrm>
            <a:off x="1071478" y="2219925"/>
            <a:ext cx="7495125" cy="1484775"/>
          </a:xfrm>
          <a:prstGeom prst="rect">
            <a:avLst/>
          </a:prstGeom>
          <a:noFill/>
          <a:ln>
            <a:noFill/>
          </a:ln>
        </p:spPr>
      </p:pic>
      <p:cxnSp>
        <p:nvCxnSpPr>
          <p:cNvPr id="372" name="Google Shape;372;p26"/>
          <p:cNvCxnSpPr>
            <a:stCxn id="370" idx="1"/>
            <a:endCxn id="370" idx="3"/>
          </p:cNvCxnSpPr>
          <p:nvPr/>
        </p:nvCxnSpPr>
        <p:spPr>
          <a:xfrm>
            <a:off x="1303800" y="1172175"/>
            <a:ext cx="66258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7"/>
          <p:cNvSpPr txBox="1"/>
          <p:nvPr>
            <p:ph type="title"/>
          </p:nvPr>
        </p:nvSpPr>
        <p:spPr>
          <a:xfrm>
            <a:off x="412400" y="0"/>
            <a:ext cx="3633600" cy="999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vi"/>
              <a:t>Quản lý nhà cung cấp</a:t>
            </a:r>
            <a:endParaRPr/>
          </a:p>
          <a:p>
            <a:pPr indent="0" lvl="0" marL="0" rtl="0" algn="l">
              <a:spcBef>
                <a:spcPts val="0"/>
              </a:spcBef>
              <a:spcAft>
                <a:spcPts val="0"/>
              </a:spcAft>
              <a:buNone/>
            </a:pPr>
            <a:r>
              <a:rPr lang="vi"/>
              <a:t>	</a:t>
            </a:r>
            <a:endParaRPr/>
          </a:p>
        </p:txBody>
      </p:sp>
      <p:sp>
        <p:nvSpPr>
          <p:cNvPr id="378" name="Google Shape;378;p27"/>
          <p:cNvSpPr txBox="1"/>
          <p:nvPr/>
        </p:nvSpPr>
        <p:spPr>
          <a:xfrm>
            <a:off x="1090550" y="772125"/>
            <a:ext cx="43416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2000">
                <a:solidFill>
                  <a:schemeClr val="dk2"/>
                </a:solidFill>
                <a:latin typeface="Maven Pro"/>
                <a:ea typeface="Maven Pro"/>
                <a:cs typeface="Maven Pro"/>
                <a:sym typeface="Maven Pro"/>
              </a:rPr>
              <a:t>Các bước thực hiện chức năng:</a:t>
            </a:r>
            <a:endParaRPr sz="500">
              <a:solidFill>
                <a:schemeClr val="dk2"/>
              </a:solidFill>
              <a:latin typeface="Nunito"/>
              <a:ea typeface="Nunito"/>
              <a:cs typeface="Nunito"/>
              <a:sym typeface="Nunito"/>
            </a:endParaRPr>
          </a:p>
        </p:txBody>
      </p:sp>
      <p:cxnSp>
        <p:nvCxnSpPr>
          <p:cNvPr id="379" name="Google Shape;379;p27"/>
          <p:cNvCxnSpPr>
            <a:stCxn id="377" idx="1"/>
            <a:endCxn id="377" idx="3"/>
          </p:cNvCxnSpPr>
          <p:nvPr/>
        </p:nvCxnSpPr>
        <p:spPr>
          <a:xfrm>
            <a:off x="412400" y="499650"/>
            <a:ext cx="3633600" cy="0"/>
          </a:xfrm>
          <a:prstGeom prst="straightConnector1">
            <a:avLst/>
          </a:prstGeom>
          <a:noFill/>
          <a:ln cap="flat" cmpd="sng" w="28575">
            <a:solidFill>
              <a:schemeClr val="dk2"/>
            </a:solidFill>
            <a:prstDash val="solid"/>
            <a:round/>
            <a:headEnd len="med" w="med" type="none"/>
            <a:tailEnd len="med" w="med" type="none"/>
          </a:ln>
        </p:spPr>
      </p:cxnSp>
      <p:pic>
        <p:nvPicPr>
          <p:cNvPr id="380" name="Google Shape;380;p27"/>
          <p:cNvPicPr preferRelativeResize="0"/>
          <p:nvPr/>
        </p:nvPicPr>
        <p:blipFill>
          <a:blip r:embed="rId3">
            <a:alphaModFix/>
          </a:blip>
          <a:stretch>
            <a:fillRect/>
          </a:stretch>
        </p:blipFill>
        <p:spPr>
          <a:xfrm>
            <a:off x="4928125" y="499651"/>
            <a:ext cx="4215875" cy="4831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8"/>
          <p:cNvSpPr txBox="1"/>
          <p:nvPr>
            <p:ph type="title"/>
          </p:nvPr>
        </p:nvSpPr>
        <p:spPr>
          <a:xfrm>
            <a:off x="1303800" y="598575"/>
            <a:ext cx="6637200" cy="115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a:t>
            </a:r>
            <a:r>
              <a:rPr lang="vi"/>
              <a:t>: Đặt hàng</a:t>
            </a:r>
            <a:endParaRPr/>
          </a:p>
        </p:txBody>
      </p:sp>
      <p:pic>
        <p:nvPicPr>
          <p:cNvPr id="386" name="Google Shape;386;p28"/>
          <p:cNvPicPr preferRelativeResize="0"/>
          <p:nvPr/>
        </p:nvPicPr>
        <p:blipFill>
          <a:blip r:embed="rId3">
            <a:alphaModFix/>
          </a:blip>
          <a:stretch>
            <a:fillRect/>
          </a:stretch>
        </p:blipFill>
        <p:spPr>
          <a:xfrm>
            <a:off x="911250" y="2013750"/>
            <a:ext cx="7321499" cy="1450375"/>
          </a:xfrm>
          <a:prstGeom prst="rect">
            <a:avLst/>
          </a:prstGeom>
          <a:noFill/>
          <a:ln>
            <a:noFill/>
          </a:ln>
        </p:spPr>
      </p:pic>
      <p:cxnSp>
        <p:nvCxnSpPr>
          <p:cNvPr id="387" name="Google Shape;387;p28"/>
          <p:cNvCxnSpPr>
            <a:stCxn id="385" idx="1"/>
            <a:endCxn id="385" idx="3"/>
          </p:cNvCxnSpPr>
          <p:nvPr/>
        </p:nvCxnSpPr>
        <p:spPr>
          <a:xfrm>
            <a:off x="1303800" y="1177875"/>
            <a:ext cx="66372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9"/>
          <p:cNvSpPr txBox="1"/>
          <p:nvPr>
            <p:ph type="title"/>
          </p:nvPr>
        </p:nvSpPr>
        <p:spPr>
          <a:xfrm>
            <a:off x="664425" y="0"/>
            <a:ext cx="2087100" cy="999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vi"/>
              <a:t>Đặt hàng</a:t>
            </a:r>
            <a:endParaRPr/>
          </a:p>
          <a:p>
            <a:pPr indent="0" lvl="0" marL="0" rtl="0" algn="l">
              <a:spcBef>
                <a:spcPts val="0"/>
              </a:spcBef>
              <a:spcAft>
                <a:spcPts val="0"/>
              </a:spcAft>
              <a:buNone/>
            </a:pPr>
            <a:r>
              <a:rPr lang="vi"/>
              <a:t>	</a:t>
            </a:r>
            <a:endParaRPr/>
          </a:p>
        </p:txBody>
      </p:sp>
      <p:sp>
        <p:nvSpPr>
          <p:cNvPr id="393" name="Google Shape;393;p29"/>
          <p:cNvSpPr txBox="1"/>
          <p:nvPr/>
        </p:nvSpPr>
        <p:spPr>
          <a:xfrm>
            <a:off x="1090550" y="726275"/>
            <a:ext cx="4341600" cy="60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2000">
                <a:solidFill>
                  <a:schemeClr val="dk2"/>
                </a:solidFill>
                <a:latin typeface="Maven Pro"/>
                <a:ea typeface="Maven Pro"/>
                <a:cs typeface="Maven Pro"/>
                <a:sym typeface="Maven Pro"/>
              </a:rPr>
              <a:t>Các bước thực hiện chức năng:</a:t>
            </a:r>
            <a:endParaRPr sz="500">
              <a:solidFill>
                <a:schemeClr val="dk2"/>
              </a:solidFill>
              <a:latin typeface="Nunito"/>
              <a:ea typeface="Nunito"/>
              <a:cs typeface="Nunito"/>
              <a:sym typeface="Nunito"/>
            </a:endParaRPr>
          </a:p>
        </p:txBody>
      </p:sp>
      <p:cxnSp>
        <p:nvCxnSpPr>
          <p:cNvPr id="394" name="Google Shape;394;p29"/>
          <p:cNvCxnSpPr>
            <a:stCxn id="392" idx="1"/>
            <a:endCxn id="392" idx="3"/>
          </p:cNvCxnSpPr>
          <p:nvPr/>
        </p:nvCxnSpPr>
        <p:spPr>
          <a:xfrm>
            <a:off x="664425" y="499650"/>
            <a:ext cx="2087100" cy="0"/>
          </a:xfrm>
          <a:prstGeom prst="straightConnector1">
            <a:avLst/>
          </a:prstGeom>
          <a:noFill/>
          <a:ln cap="flat" cmpd="sng" w="28575">
            <a:solidFill>
              <a:schemeClr val="dk2"/>
            </a:solidFill>
            <a:prstDash val="solid"/>
            <a:round/>
            <a:headEnd len="med" w="med" type="none"/>
            <a:tailEnd len="med" w="med" type="none"/>
          </a:ln>
        </p:spPr>
      </p:cxnSp>
      <p:pic>
        <p:nvPicPr>
          <p:cNvPr id="395" name="Google Shape;395;p29"/>
          <p:cNvPicPr preferRelativeResize="0"/>
          <p:nvPr/>
        </p:nvPicPr>
        <p:blipFill>
          <a:blip r:embed="rId3">
            <a:alphaModFix/>
          </a:blip>
          <a:stretch>
            <a:fillRect/>
          </a:stretch>
        </p:blipFill>
        <p:spPr>
          <a:xfrm>
            <a:off x="5733475" y="0"/>
            <a:ext cx="2628223" cy="51435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0"/>
          <p:cNvSpPr txBox="1"/>
          <p:nvPr>
            <p:ph type="title"/>
          </p:nvPr>
        </p:nvSpPr>
        <p:spPr>
          <a:xfrm>
            <a:off x="1303800" y="598575"/>
            <a:ext cx="6637200" cy="115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 Quản lý tồn kho</a:t>
            </a:r>
            <a:endParaRPr/>
          </a:p>
        </p:txBody>
      </p:sp>
      <p:pic>
        <p:nvPicPr>
          <p:cNvPr id="401" name="Google Shape;401;p30"/>
          <p:cNvPicPr preferRelativeResize="0"/>
          <p:nvPr/>
        </p:nvPicPr>
        <p:blipFill>
          <a:blip r:embed="rId3">
            <a:alphaModFix/>
          </a:blip>
          <a:stretch>
            <a:fillRect/>
          </a:stretch>
        </p:blipFill>
        <p:spPr>
          <a:xfrm>
            <a:off x="481050" y="1830475"/>
            <a:ext cx="8181899" cy="1620820"/>
          </a:xfrm>
          <a:prstGeom prst="rect">
            <a:avLst/>
          </a:prstGeom>
          <a:noFill/>
          <a:ln>
            <a:noFill/>
          </a:ln>
        </p:spPr>
      </p:pic>
      <p:cxnSp>
        <p:nvCxnSpPr>
          <p:cNvPr id="402" name="Google Shape;402;p30"/>
          <p:cNvCxnSpPr>
            <a:stCxn id="400" idx="1"/>
            <a:endCxn id="400" idx="3"/>
          </p:cNvCxnSpPr>
          <p:nvPr/>
        </p:nvCxnSpPr>
        <p:spPr>
          <a:xfrm>
            <a:off x="1303800" y="1177875"/>
            <a:ext cx="66372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1"/>
          <p:cNvSpPr txBox="1"/>
          <p:nvPr>
            <p:ph type="title"/>
          </p:nvPr>
        </p:nvSpPr>
        <p:spPr>
          <a:xfrm>
            <a:off x="412400" y="0"/>
            <a:ext cx="3633600" cy="999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vi"/>
              <a:t>Quản lý nhà tồn kho</a:t>
            </a:r>
            <a:endParaRPr/>
          </a:p>
          <a:p>
            <a:pPr indent="0" lvl="0" marL="0" rtl="0" algn="l">
              <a:spcBef>
                <a:spcPts val="0"/>
              </a:spcBef>
              <a:spcAft>
                <a:spcPts val="0"/>
              </a:spcAft>
              <a:buNone/>
            </a:pPr>
            <a:r>
              <a:rPr lang="vi"/>
              <a:t>	</a:t>
            </a:r>
            <a:endParaRPr/>
          </a:p>
        </p:txBody>
      </p:sp>
      <p:sp>
        <p:nvSpPr>
          <p:cNvPr id="408" name="Google Shape;408;p31"/>
          <p:cNvSpPr txBox="1"/>
          <p:nvPr/>
        </p:nvSpPr>
        <p:spPr>
          <a:xfrm>
            <a:off x="1090550" y="772125"/>
            <a:ext cx="43416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2000">
                <a:solidFill>
                  <a:schemeClr val="dk2"/>
                </a:solidFill>
                <a:latin typeface="Maven Pro"/>
                <a:ea typeface="Maven Pro"/>
                <a:cs typeface="Maven Pro"/>
                <a:sym typeface="Maven Pro"/>
              </a:rPr>
              <a:t>Các bước thực hiện chức năng:</a:t>
            </a:r>
            <a:endParaRPr sz="500">
              <a:solidFill>
                <a:schemeClr val="dk2"/>
              </a:solidFill>
              <a:latin typeface="Nunito"/>
              <a:ea typeface="Nunito"/>
              <a:cs typeface="Nunito"/>
              <a:sym typeface="Nunito"/>
            </a:endParaRPr>
          </a:p>
        </p:txBody>
      </p:sp>
      <p:cxnSp>
        <p:nvCxnSpPr>
          <p:cNvPr id="409" name="Google Shape;409;p31"/>
          <p:cNvCxnSpPr>
            <a:stCxn id="407" idx="1"/>
            <a:endCxn id="407" idx="3"/>
          </p:cNvCxnSpPr>
          <p:nvPr/>
        </p:nvCxnSpPr>
        <p:spPr>
          <a:xfrm>
            <a:off x="412400" y="499650"/>
            <a:ext cx="3633600" cy="0"/>
          </a:xfrm>
          <a:prstGeom prst="straightConnector1">
            <a:avLst/>
          </a:prstGeom>
          <a:noFill/>
          <a:ln cap="flat" cmpd="sng" w="28575">
            <a:solidFill>
              <a:schemeClr val="dk2"/>
            </a:solidFill>
            <a:prstDash val="solid"/>
            <a:round/>
            <a:headEnd len="med" w="med" type="none"/>
            <a:tailEnd len="med" w="med" type="none"/>
          </a:ln>
        </p:spPr>
      </p:cxnSp>
      <p:pic>
        <p:nvPicPr>
          <p:cNvPr id="410" name="Google Shape;410;p31"/>
          <p:cNvPicPr preferRelativeResize="0"/>
          <p:nvPr/>
        </p:nvPicPr>
        <p:blipFill>
          <a:blip r:embed="rId3">
            <a:alphaModFix/>
          </a:blip>
          <a:stretch>
            <a:fillRect/>
          </a:stretch>
        </p:blipFill>
        <p:spPr>
          <a:xfrm>
            <a:off x="4916675" y="348650"/>
            <a:ext cx="4227325" cy="44560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2"/>
          <p:cNvSpPr txBox="1"/>
          <p:nvPr>
            <p:ph type="title"/>
          </p:nvPr>
        </p:nvSpPr>
        <p:spPr>
          <a:xfrm>
            <a:off x="1303800" y="598575"/>
            <a:ext cx="6637200" cy="115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 Thống kê</a:t>
            </a:r>
            <a:endParaRPr/>
          </a:p>
        </p:txBody>
      </p:sp>
      <p:pic>
        <p:nvPicPr>
          <p:cNvPr id="416" name="Google Shape;416;p32"/>
          <p:cNvPicPr preferRelativeResize="0"/>
          <p:nvPr/>
        </p:nvPicPr>
        <p:blipFill>
          <a:blip r:embed="rId3">
            <a:alphaModFix/>
          </a:blip>
          <a:stretch>
            <a:fillRect/>
          </a:stretch>
        </p:blipFill>
        <p:spPr>
          <a:xfrm>
            <a:off x="1303800" y="1597875"/>
            <a:ext cx="6299300" cy="3011825"/>
          </a:xfrm>
          <a:prstGeom prst="rect">
            <a:avLst/>
          </a:prstGeom>
          <a:noFill/>
          <a:ln>
            <a:noFill/>
          </a:ln>
        </p:spPr>
      </p:pic>
      <p:cxnSp>
        <p:nvCxnSpPr>
          <p:cNvPr id="417" name="Google Shape;417;p32"/>
          <p:cNvCxnSpPr>
            <a:stCxn id="415" idx="1"/>
            <a:endCxn id="415" idx="3"/>
          </p:cNvCxnSpPr>
          <p:nvPr/>
        </p:nvCxnSpPr>
        <p:spPr>
          <a:xfrm>
            <a:off x="1303800" y="1177875"/>
            <a:ext cx="66372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33"/>
          <p:cNvPicPr preferRelativeResize="0"/>
          <p:nvPr/>
        </p:nvPicPr>
        <p:blipFill>
          <a:blip r:embed="rId3">
            <a:alphaModFix/>
          </a:blip>
          <a:stretch>
            <a:fillRect/>
          </a:stretch>
        </p:blipFill>
        <p:spPr>
          <a:xfrm>
            <a:off x="3634725" y="1299050"/>
            <a:ext cx="5509275" cy="3844450"/>
          </a:xfrm>
          <a:prstGeom prst="rect">
            <a:avLst/>
          </a:prstGeom>
          <a:noFill/>
          <a:ln>
            <a:noFill/>
          </a:ln>
        </p:spPr>
      </p:pic>
      <p:sp>
        <p:nvSpPr>
          <p:cNvPr id="423" name="Google Shape;423;p33"/>
          <p:cNvSpPr txBox="1"/>
          <p:nvPr>
            <p:ph type="title"/>
          </p:nvPr>
        </p:nvSpPr>
        <p:spPr>
          <a:xfrm>
            <a:off x="412400" y="0"/>
            <a:ext cx="3633600" cy="999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vi"/>
              <a:t>Thống kê</a:t>
            </a:r>
            <a:endParaRPr/>
          </a:p>
          <a:p>
            <a:pPr indent="0" lvl="0" marL="0" rtl="0" algn="l">
              <a:spcBef>
                <a:spcPts val="0"/>
              </a:spcBef>
              <a:spcAft>
                <a:spcPts val="0"/>
              </a:spcAft>
              <a:buNone/>
            </a:pPr>
            <a:r>
              <a:rPr lang="vi"/>
              <a:t>	</a:t>
            </a:r>
            <a:endParaRPr/>
          </a:p>
        </p:txBody>
      </p:sp>
      <p:sp>
        <p:nvSpPr>
          <p:cNvPr id="424" name="Google Shape;424;p33"/>
          <p:cNvSpPr txBox="1"/>
          <p:nvPr/>
        </p:nvSpPr>
        <p:spPr>
          <a:xfrm>
            <a:off x="1090550" y="772125"/>
            <a:ext cx="43416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2000">
                <a:solidFill>
                  <a:schemeClr val="dk2"/>
                </a:solidFill>
                <a:latin typeface="Maven Pro"/>
                <a:ea typeface="Maven Pro"/>
                <a:cs typeface="Maven Pro"/>
                <a:sym typeface="Maven Pro"/>
              </a:rPr>
              <a:t>Các bước thực hiện chức năng:</a:t>
            </a:r>
            <a:endParaRPr sz="500">
              <a:solidFill>
                <a:schemeClr val="dk2"/>
              </a:solidFill>
              <a:latin typeface="Nunito"/>
              <a:ea typeface="Nunito"/>
              <a:cs typeface="Nunito"/>
              <a:sym typeface="Nunito"/>
            </a:endParaRPr>
          </a:p>
        </p:txBody>
      </p:sp>
      <p:cxnSp>
        <p:nvCxnSpPr>
          <p:cNvPr id="425" name="Google Shape;425;p33"/>
          <p:cNvCxnSpPr>
            <a:stCxn id="423" idx="1"/>
            <a:endCxn id="423" idx="3"/>
          </p:cNvCxnSpPr>
          <p:nvPr/>
        </p:nvCxnSpPr>
        <p:spPr>
          <a:xfrm>
            <a:off x="412400" y="499650"/>
            <a:ext cx="3633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4"/>
          <p:cNvSpPr txBox="1"/>
          <p:nvPr>
            <p:ph type="title"/>
          </p:nvPr>
        </p:nvSpPr>
        <p:spPr>
          <a:xfrm>
            <a:off x="1303800" y="598575"/>
            <a:ext cx="7030500" cy="115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 Lịch sử bán hàng</a:t>
            </a:r>
            <a:endParaRPr/>
          </a:p>
        </p:txBody>
      </p:sp>
      <p:pic>
        <p:nvPicPr>
          <p:cNvPr id="431" name="Google Shape;431;p34"/>
          <p:cNvPicPr preferRelativeResize="0"/>
          <p:nvPr/>
        </p:nvPicPr>
        <p:blipFill>
          <a:blip r:embed="rId3">
            <a:alphaModFix/>
          </a:blip>
          <a:stretch>
            <a:fillRect/>
          </a:stretch>
        </p:blipFill>
        <p:spPr>
          <a:xfrm>
            <a:off x="824488" y="1956475"/>
            <a:ext cx="7495024" cy="1484750"/>
          </a:xfrm>
          <a:prstGeom prst="rect">
            <a:avLst/>
          </a:prstGeom>
          <a:noFill/>
          <a:ln>
            <a:noFill/>
          </a:ln>
        </p:spPr>
      </p:pic>
      <p:cxnSp>
        <p:nvCxnSpPr>
          <p:cNvPr id="432" name="Google Shape;432;p34"/>
          <p:cNvCxnSpPr>
            <a:stCxn id="430" idx="1"/>
            <a:endCxn id="430" idx="3"/>
          </p:cNvCxnSpPr>
          <p:nvPr/>
        </p:nvCxnSpPr>
        <p:spPr>
          <a:xfrm>
            <a:off x="1303800" y="1177875"/>
            <a:ext cx="70305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5"/>
          <p:cNvSpPr txBox="1"/>
          <p:nvPr>
            <p:ph type="title"/>
          </p:nvPr>
        </p:nvSpPr>
        <p:spPr>
          <a:xfrm>
            <a:off x="412400" y="0"/>
            <a:ext cx="3633600" cy="999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vi"/>
              <a:t>Lịch sử bán hàng</a:t>
            </a:r>
            <a:endParaRPr/>
          </a:p>
          <a:p>
            <a:pPr indent="0" lvl="0" marL="0" rtl="0" algn="l">
              <a:spcBef>
                <a:spcPts val="0"/>
              </a:spcBef>
              <a:spcAft>
                <a:spcPts val="0"/>
              </a:spcAft>
              <a:buNone/>
            </a:pPr>
            <a:r>
              <a:rPr lang="vi"/>
              <a:t>	</a:t>
            </a:r>
            <a:endParaRPr/>
          </a:p>
        </p:txBody>
      </p:sp>
      <p:sp>
        <p:nvSpPr>
          <p:cNvPr id="438" name="Google Shape;438;p35"/>
          <p:cNvSpPr txBox="1"/>
          <p:nvPr/>
        </p:nvSpPr>
        <p:spPr>
          <a:xfrm>
            <a:off x="1090550" y="772125"/>
            <a:ext cx="43416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2000">
                <a:solidFill>
                  <a:schemeClr val="dk2"/>
                </a:solidFill>
                <a:latin typeface="Maven Pro"/>
                <a:ea typeface="Maven Pro"/>
                <a:cs typeface="Maven Pro"/>
                <a:sym typeface="Maven Pro"/>
              </a:rPr>
              <a:t>Các bước thực hiện chức năng:</a:t>
            </a:r>
            <a:endParaRPr sz="500">
              <a:solidFill>
                <a:schemeClr val="dk2"/>
              </a:solidFill>
              <a:latin typeface="Nunito"/>
              <a:ea typeface="Nunito"/>
              <a:cs typeface="Nunito"/>
              <a:sym typeface="Nunito"/>
            </a:endParaRPr>
          </a:p>
        </p:txBody>
      </p:sp>
      <p:cxnSp>
        <p:nvCxnSpPr>
          <p:cNvPr id="439" name="Google Shape;439;p35"/>
          <p:cNvCxnSpPr>
            <a:stCxn id="437" idx="1"/>
            <a:endCxn id="437" idx="3"/>
          </p:cNvCxnSpPr>
          <p:nvPr/>
        </p:nvCxnSpPr>
        <p:spPr>
          <a:xfrm>
            <a:off x="412400" y="499650"/>
            <a:ext cx="3633600" cy="0"/>
          </a:xfrm>
          <a:prstGeom prst="straightConnector1">
            <a:avLst/>
          </a:prstGeom>
          <a:noFill/>
          <a:ln cap="flat" cmpd="sng" w="28575">
            <a:solidFill>
              <a:schemeClr val="dk2"/>
            </a:solidFill>
            <a:prstDash val="solid"/>
            <a:round/>
            <a:headEnd len="med" w="med" type="none"/>
            <a:tailEnd len="med" w="med" type="none"/>
          </a:ln>
        </p:spPr>
      </p:cxnSp>
      <p:pic>
        <p:nvPicPr>
          <p:cNvPr id="440" name="Google Shape;440;p35"/>
          <p:cNvPicPr preferRelativeResize="0"/>
          <p:nvPr/>
        </p:nvPicPr>
        <p:blipFill>
          <a:blip r:embed="rId3">
            <a:alphaModFix/>
          </a:blip>
          <a:stretch>
            <a:fillRect/>
          </a:stretch>
        </p:blipFill>
        <p:spPr>
          <a:xfrm>
            <a:off x="3461850" y="1291775"/>
            <a:ext cx="5682150" cy="3851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6"/>
          <p:cNvSpPr txBox="1"/>
          <p:nvPr>
            <p:ph type="title"/>
          </p:nvPr>
        </p:nvSpPr>
        <p:spPr>
          <a:xfrm>
            <a:off x="1303800" y="598575"/>
            <a:ext cx="7030500" cy="117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 Lập hóa đơn</a:t>
            </a:r>
            <a:endParaRPr/>
          </a:p>
        </p:txBody>
      </p:sp>
      <p:pic>
        <p:nvPicPr>
          <p:cNvPr id="446" name="Google Shape;446;p36"/>
          <p:cNvPicPr preferRelativeResize="0"/>
          <p:nvPr/>
        </p:nvPicPr>
        <p:blipFill>
          <a:blip r:embed="rId3">
            <a:alphaModFix/>
          </a:blip>
          <a:stretch>
            <a:fillRect/>
          </a:stretch>
        </p:blipFill>
        <p:spPr>
          <a:xfrm>
            <a:off x="925125" y="2170425"/>
            <a:ext cx="7293750" cy="1625925"/>
          </a:xfrm>
          <a:prstGeom prst="rect">
            <a:avLst/>
          </a:prstGeom>
          <a:noFill/>
          <a:ln>
            <a:noFill/>
          </a:ln>
        </p:spPr>
      </p:pic>
      <p:cxnSp>
        <p:nvCxnSpPr>
          <p:cNvPr id="447" name="Google Shape;447;p36"/>
          <p:cNvCxnSpPr>
            <a:stCxn id="445" idx="1"/>
            <a:endCxn id="445" idx="3"/>
          </p:cNvCxnSpPr>
          <p:nvPr/>
        </p:nvCxnSpPr>
        <p:spPr>
          <a:xfrm>
            <a:off x="1303800" y="1183575"/>
            <a:ext cx="70305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id="452" name="Google Shape;452;p37"/>
          <p:cNvPicPr preferRelativeResize="0"/>
          <p:nvPr/>
        </p:nvPicPr>
        <p:blipFill>
          <a:blip r:embed="rId3">
            <a:alphaModFix/>
          </a:blip>
          <a:stretch>
            <a:fillRect/>
          </a:stretch>
        </p:blipFill>
        <p:spPr>
          <a:xfrm>
            <a:off x="5196650" y="304800"/>
            <a:ext cx="3947361" cy="4838701"/>
          </a:xfrm>
          <a:prstGeom prst="rect">
            <a:avLst/>
          </a:prstGeom>
          <a:noFill/>
          <a:ln>
            <a:noFill/>
          </a:ln>
        </p:spPr>
      </p:pic>
      <p:sp>
        <p:nvSpPr>
          <p:cNvPr id="453" name="Google Shape;453;p37"/>
          <p:cNvSpPr txBox="1"/>
          <p:nvPr>
            <p:ph type="title"/>
          </p:nvPr>
        </p:nvSpPr>
        <p:spPr>
          <a:xfrm>
            <a:off x="412400" y="0"/>
            <a:ext cx="3633600" cy="999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vi"/>
              <a:t>Lập hóa đơn</a:t>
            </a:r>
            <a:endParaRPr/>
          </a:p>
          <a:p>
            <a:pPr indent="0" lvl="0" marL="0" rtl="0" algn="l">
              <a:spcBef>
                <a:spcPts val="0"/>
              </a:spcBef>
              <a:spcAft>
                <a:spcPts val="0"/>
              </a:spcAft>
              <a:buNone/>
            </a:pPr>
            <a:r>
              <a:rPr lang="vi"/>
              <a:t>	</a:t>
            </a:r>
            <a:endParaRPr/>
          </a:p>
        </p:txBody>
      </p:sp>
      <p:sp>
        <p:nvSpPr>
          <p:cNvPr id="454" name="Google Shape;454;p37"/>
          <p:cNvSpPr txBox="1"/>
          <p:nvPr/>
        </p:nvSpPr>
        <p:spPr>
          <a:xfrm>
            <a:off x="1090550" y="772125"/>
            <a:ext cx="4341600" cy="7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2000">
                <a:solidFill>
                  <a:schemeClr val="dk2"/>
                </a:solidFill>
                <a:latin typeface="Maven Pro"/>
                <a:ea typeface="Maven Pro"/>
                <a:cs typeface="Maven Pro"/>
                <a:sym typeface="Maven Pro"/>
              </a:rPr>
              <a:t>Các bước thực hiện chức năng:</a:t>
            </a:r>
            <a:endParaRPr sz="500">
              <a:solidFill>
                <a:schemeClr val="dk2"/>
              </a:solidFill>
              <a:latin typeface="Nunito"/>
              <a:ea typeface="Nunito"/>
              <a:cs typeface="Nunito"/>
              <a:sym typeface="Nunito"/>
            </a:endParaRPr>
          </a:p>
        </p:txBody>
      </p:sp>
      <p:cxnSp>
        <p:nvCxnSpPr>
          <p:cNvPr id="455" name="Google Shape;455;p37"/>
          <p:cNvCxnSpPr>
            <a:stCxn id="453" idx="1"/>
            <a:endCxn id="453" idx="3"/>
          </p:cNvCxnSpPr>
          <p:nvPr/>
        </p:nvCxnSpPr>
        <p:spPr>
          <a:xfrm>
            <a:off x="412400" y="499650"/>
            <a:ext cx="3633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8"/>
          <p:cNvSpPr txBox="1"/>
          <p:nvPr>
            <p:ph type="title"/>
          </p:nvPr>
        </p:nvSpPr>
        <p:spPr>
          <a:xfrm>
            <a:off x="0" y="24675"/>
            <a:ext cx="4109700" cy="118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USECASE của hệ thống</a:t>
            </a:r>
            <a:endParaRPr/>
          </a:p>
        </p:txBody>
      </p:sp>
      <p:pic>
        <p:nvPicPr>
          <p:cNvPr id="461" name="Google Shape;461;p38"/>
          <p:cNvPicPr preferRelativeResize="0"/>
          <p:nvPr/>
        </p:nvPicPr>
        <p:blipFill>
          <a:blip r:embed="rId3">
            <a:alphaModFix/>
          </a:blip>
          <a:stretch>
            <a:fillRect/>
          </a:stretch>
        </p:blipFill>
        <p:spPr>
          <a:xfrm>
            <a:off x="4109675" y="24663"/>
            <a:ext cx="5034326" cy="5094175"/>
          </a:xfrm>
          <a:prstGeom prst="rect">
            <a:avLst/>
          </a:prstGeom>
          <a:noFill/>
          <a:ln>
            <a:noFill/>
          </a:ln>
        </p:spPr>
      </p:pic>
      <p:cxnSp>
        <p:nvCxnSpPr>
          <p:cNvPr id="462" name="Google Shape;462;p38"/>
          <p:cNvCxnSpPr>
            <a:stCxn id="460" idx="1"/>
            <a:endCxn id="460" idx="3"/>
          </p:cNvCxnSpPr>
          <p:nvPr/>
        </p:nvCxnSpPr>
        <p:spPr>
          <a:xfrm>
            <a:off x="0" y="615975"/>
            <a:ext cx="41097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9"/>
          <p:cNvSpPr txBox="1"/>
          <p:nvPr>
            <p:ph type="title"/>
          </p:nvPr>
        </p:nvSpPr>
        <p:spPr>
          <a:xfrm>
            <a:off x="1303800" y="598575"/>
            <a:ext cx="6614100" cy="117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Yêu cầu người dùng</a:t>
            </a:r>
            <a:endParaRPr/>
          </a:p>
        </p:txBody>
      </p:sp>
      <p:sp>
        <p:nvSpPr>
          <p:cNvPr id="468" name="Google Shape;468;p39"/>
          <p:cNvSpPr txBox="1"/>
          <p:nvPr>
            <p:ph idx="1" type="body"/>
          </p:nvPr>
        </p:nvSpPr>
        <p:spPr>
          <a:xfrm>
            <a:off x="1303800" y="1368450"/>
            <a:ext cx="7030500" cy="31632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vi" sz="1500">
                <a:solidFill>
                  <a:srgbClr val="000000"/>
                </a:solidFill>
                <a:latin typeface="Arial"/>
                <a:ea typeface="Arial"/>
                <a:cs typeface="Arial"/>
                <a:sym typeface="Arial"/>
              </a:rPr>
              <a:t>Quản lý Nhà cung cấp</a:t>
            </a:r>
            <a:endParaRPr b="1" sz="15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thêm thông tin nhà cung cấp mới để cập nhật danh sách nhà cung cấp để tiến hành đặt hàng.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sửa thông tin nhà cung cấp để đảm bảo tính chính xác về thông tin nhà cung cấp để tiến hành đặt hàng</a:t>
            </a:r>
            <a:r>
              <a:rPr lang="vi">
                <a:solidFill>
                  <a:srgbClr val="000000"/>
                </a:solidFill>
                <a:latin typeface="Arial"/>
                <a:ea typeface="Arial"/>
                <a:cs typeface="Arial"/>
                <a:sym typeface="Arial"/>
              </a:rPr>
              <a:t>.</a:t>
            </a:r>
            <a:endParaRPr b="1" sz="1500">
              <a:solidFill>
                <a:srgbClr val="000000"/>
              </a:solidFill>
              <a:latin typeface="Arial"/>
              <a:ea typeface="Arial"/>
              <a:cs typeface="Arial"/>
              <a:sym typeface="Arial"/>
            </a:endParaRPr>
          </a:p>
          <a:p>
            <a:pPr indent="0" lvl="0" marL="0" rtl="0" algn="l">
              <a:spcBef>
                <a:spcPts val="1400"/>
              </a:spcBef>
              <a:spcAft>
                <a:spcPts val="0"/>
              </a:spcAft>
              <a:buNone/>
            </a:pPr>
            <a:r>
              <a:rPr b="1" lang="vi" sz="1500">
                <a:solidFill>
                  <a:srgbClr val="000000"/>
                </a:solidFill>
                <a:latin typeface="Arial"/>
                <a:ea typeface="Arial"/>
                <a:cs typeface="Arial"/>
                <a:sym typeface="Arial"/>
              </a:rPr>
              <a:t>Thống kê và Báo cáo</a:t>
            </a:r>
            <a:endParaRPr b="1" sz="15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truy cập báo cáo để xem thông tin về doanh thu, tồn kho, nhân viên, khách hàng.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xuất báo cáo để có thể theo dõi tình trạng kinh doanh của cửa hàng.</a:t>
            </a:r>
            <a:endParaRPr/>
          </a:p>
        </p:txBody>
      </p:sp>
      <p:cxnSp>
        <p:nvCxnSpPr>
          <p:cNvPr id="469" name="Google Shape;469;p39"/>
          <p:cNvCxnSpPr>
            <a:stCxn id="467" idx="1"/>
            <a:endCxn id="467" idx="3"/>
          </p:cNvCxnSpPr>
          <p:nvPr/>
        </p:nvCxnSpPr>
        <p:spPr>
          <a:xfrm>
            <a:off x="1303800" y="1183725"/>
            <a:ext cx="66141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0"/>
          <p:cNvSpPr txBox="1"/>
          <p:nvPr>
            <p:ph type="title"/>
          </p:nvPr>
        </p:nvSpPr>
        <p:spPr>
          <a:xfrm>
            <a:off x="1303800" y="598575"/>
            <a:ext cx="6637200" cy="114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Yêu cầu người dùng</a:t>
            </a:r>
            <a:endParaRPr/>
          </a:p>
        </p:txBody>
      </p:sp>
      <p:sp>
        <p:nvSpPr>
          <p:cNvPr id="475" name="Google Shape;475;p40"/>
          <p:cNvSpPr txBox="1"/>
          <p:nvPr>
            <p:ph idx="1" type="body"/>
          </p:nvPr>
        </p:nvSpPr>
        <p:spPr>
          <a:xfrm>
            <a:off x="1303800" y="1597875"/>
            <a:ext cx="7030500" cy="33177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vi" sz="1500">
                <a:solidFill>
                  <a:srgbClr val="000000"/>
                </a:solidFill>
                <a:latin typeface="Arial"/>
                <a:ea typeface="Arial"/>
                <a:cs typeface="Arial"/>
                <a:sym typeface="Arial"/>
              </a:rPr>
              <a:t>Đăng nhập Hệ Thống</a:t>
            </a:r>
            <a:endParaRPr b="1" sz="15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nhân viên</a:t>
            </a:r>
            <a:r>
              <a:rPr lang="vi">
                <a:solidFill>
                  <a:srgbClr val="000000"/>
                </a:solidFill>
                <a:latin typeface="Arial"/>
                <a:ea typeface="Arial"/>
                <a:cs typeface="Arial"/>
                <a:sym typeface="Arial"/>
              </a:rPr>
              <a:t>, tôi muốn đăng nhập vào hệ thống bằng tài khoản và mật khẩu để truy cập các chức năng của hệ thống.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hệ thống</a:t>
            </a:r>
            <a:r>
              <a:rPr lang="vi">
                <a:solidFill>
                  <a:srgbClr val="000000"/>
                </a:solidFill>
                <a:latin typeface="Arial"/>
                <a:ea typeface="Arial"/>
                <a:cs typeface="Arial"/>
                <a:sym typeface="Arial"/>
              </a:rPr>
              <a:t>, tôi muốn kiểm tra quyền truy cập của người dùng để hiển thị giao diện làm việc tương ứng.</a:t>
            </a:r>
            <a:endParaRPr>
              <a:solidFill>
                <a:srgbClr val="000000"/>
              </a:solidFill>
              <a:latin typeface="Arial"/>
              <a:ea typeface="Arial"/>
              <a:cs typeface="Arial"/>
              <a:sym typeface="Arial"/>
            </a:endParaRPr>
          </a:p>
          <a:p>
            <a:pPr indent="0" lvl="0" marL="0" rtl="0" algn="l">
              <a:spcBef>
                <a:spcPts val="1400"/>
              </a:spcBef>
              <a:spcAft>
                <a:spcPts val="0"/>
              </a:spcAft>
              <a:buNone/>
            </a:pPr>
            <a:r>
              <a:rPr b="1" lang="vi" sz="1500">
                <a:solidFill>
                  <a:srgbClr val="000000"/>
                </a:solidFill>
                <a:latin typeface="Arial"/>
                <a:ea typeface="Arial"/>
                <a:cs typeface="Arial"/>
                <a:sym typeface="Arial"/>
              </a:rPr>
              <a:t>Quản lý Menu</a:t>
            </a:r>
            <a:endParaRPr b="1" sz="15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thêm món mới vào menu để cập nhật danh sách món ăn cho khách hàng.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sửa thông tin món ăn trong menu để đảm bảo tính chính xác về giá và thành phần.</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nhân viên</a:t>
            </a:r>
            <a:r>
              <a:rPr lang="vi">
                <a:solidFill>
                  <a:srgbClr val="000000"/>
                </a:solidFill>
                <a:latin typeface="Arial"/>
                <a:ea typeface="Arial"/>
                <a:cs typeface="Arial"/>
                <a:sym typeface="Arial"/>
              </a:rPr>
              <a:t>, tôi muốn xem danh sách các món trong menu để có thể tìm kiếm và lọc món theo yêu cầu của khách hàng.</a:t>
            </a:r>
            <a:endParaRPr>
              <a:solidFill>
                <a:srgbClr val="000000"/>
              </a:solidFill>
              <a:latin typeface="Arial"/>
              <a:ea typeface="Arial"/>
              <a:cs typeface="Arial"/>
              <a:sym typeface="Arial"/>
            </a:endParaRPr>
          </a:p>
        </p:txBody>
      </p:sp>
      <p:cxnSp>
        <p:nvCxnSpPr>
          <p:cNvPr id="476" name="Google Shape;476;p40"/>
          <p:cNvCxnSpPr>
            <a:stCxn id="474" idx="1"/>
            <a:endCxn id="474" idx="3"/>
          </p:cNvCxnSpPr>
          <p:nvPr/>
        </p:nvCxnSpPr>
        <p:spPr>
          <a:xfrm>
            <a:off x="1303800" y="1172175"/>
            <a:ext cx="66372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1"/>
          <p:cNvSpPr txBox="1"/>
          <p:nvPr>
            <p:ph type="title"/>
          </p:nvPr>
        </p:nvSpPr>
        <p:spPr>
          <a:xfrm>
            <a:off x="1303800" y="598575"/>
            <a:ext cx="6625800" cy="114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Yêu cầu người dùng</a:t>
            </a:r>
            <a:endParaRPr/>
          </a:p>
        </p:txBody>
      </p:sp>
      <p:sp>
        <p:nvSpPr>
          <p:cNvPr id="482" name="Google Shape;482;p41"/>
          <p:cNvSpPr txBox="1"/>
          <p:nvPr>
            <p:ph idx="1" type="body"/>
          </p:nvPr>
        </p:nvSpPr>
        <p:spPr>
          <a:xfrm>
            <a:off x="1303800" y="1597875"/>
            <a:ext cx="7030500" cy="32469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vi" sz="1500">
                <a:solidFill>
                  <a:srgbClr val="000000"/>
                </a:solidFill>
                <a:latin typeface="Arial"/>
                <a:ea typeface="Arial"/>
                <a:cs typeface="Arial"/>
                <a:sym typeface="Arial"/>
              </a:rPr>
              <a:t>Quản lý Nhân Viên</a:t>
            </a:r>
            <a:endParaRPr b="1" sz="15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thêm, sửa, thông tin cá nhân của nhân viên để quản lý nhân viên một cách hiệu quả.</a:t>
            </a:r>
            <a:endParaRPr>
              <a:solidFill>
                <a:srgbClr val="000000"/>
              </a:solidFill>
              <a:latin typeface="Arial"/>
              <a:ea typeface="Arial"/>
              <a:cs typeface="Arial"/>
              <a:sym typeface="Arial"/>
            </a:endParaRPr>
          </a:p>
          <a:p>
            <a:pPr indent="0" lvl="0" marL="0" rtl="0" algn="l">
              <a:spcBef>
                <a:spcPts val="1400"/>
              </a:spcBef>
              <a:spcAft>
                <a:spcPts val="0"/>
              </a:spcAft>
              <a:buNone/>
            </a:pPr>
            <a:r>
              <a:rPr b="1" lang="vi" sz="1500">
                <a:solidFill>
                  <a:srgbClr val="000000"/>
                </a:solidFill>
                <a:latin typeface="Arial"/>
                <a:ea typeface="Arial"/>
                <a:cs typeface="Arial"/>
                <a:sym typeface="Arial"/>
              </a:rPr>
              <a:t>Quản lý Tồn kho</a:t>
            </a:r>
            <a:endParaRPr>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nhập thông tin hàng mới nhận vào hệ thống để cập nhật kho.</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ghi nhận số lượng nguyên liệu xuất kho để hệ thống cập nhật số lượng tồn kho chính xác.</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hệ thống</a:t>
            </a:r>
            <a:r>
              <a:rPr lang="vi">
                <a:solidFill>
                  <a:srgbClr val="000000"/>
                </a:solidFill>
                <a:latin typeface="Arial"/>
                <a:ea typeface="Arial"/>
                <a:cs typeface="Arial"/>
                <a:sym typeface="Arial"/>
              </a:rPr>
              <a:t>, tôi muốn tự động gửi cảnh báo khi nguyên liệu sắp hết.</a:t>
            </a:r>
            <a:endParaRPr/>
          </a:p>
        </p:txBody>
      </p:sp>
      <p:cxnSp>
        <p:nvCxnSpPr>
          <p:cNvPr id="483" name="Google Shape;483;p41"/>
          <p:cNvCxnSpPr>
            <a:stCxn id="481" idx="1"/>
            <a:endCxn id="481" idx="3"/>
          </p:cNvCxnSpPr>
          <p:nvPr/>
        </p:nvCxnSpPr>
        <p:spPr>
          <a:xfrm>
            <a:off x="1303800" y="1172175"/>
            <a:ext cx="66258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2"/>
          <p:cNvSpPr txBox="1"/>
          <p:nvPr>
            <p:ph type="title"/>
          </p:nvPr>
        </p:nvSpPr>
        <p:spPr>
          <a:xfrm>
            <a:off x="1303800" y="598575"/>
            <a:ext cx="6602700" cy="114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Yêu cầu người dùng</a:t>
            </a:r>
            <a:endParaRPr/>
          </a:p>
        </p:txBody>
      </p:sp>
      <p:sp>
        <p:nvSpPr>
          <p:cNvPr id="489" name="Google Shape;489;p42"/>
          <p:cNvSpPr txBox="1"/>
          <p:nvPr>
            <p:ph idx="1" type="body"/>
          </p:nvPr>
        </p:nvSpPr>
        <p:spPr>
          <a:xfrm>
            <a:off x="1303800" y="1392050"/>
            <a:ext cx="7030500" cy="345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vi" sz="1500">
                <a:solidFill>
                  <a:srgbClr val="000000"/>
                </a:solidFill>
                <a:latin typeface="Arial"/>
                <a:ea typeface="Arial"/>
                <a:cs typeface="Arial"/>
                <a:sym typeface="Arial"/>
              </a:rPr>
              <a:t>Đặt hàng</a:t>
            </a:r>
            <a:endParaRPr b="1" sz="15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lập đơn đặt hàng để gửi cho nhà cung cấp.</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chọn thông tin nhà cung cấp có sẵn.</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chọn hàng có sẵn để tiến hành đặt hàng.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in ra đơn đặt hàng.</a:t>
            </a:r>
            <a:endParaRPr>
              <a:solidFill>
                <a:srgbClr val="000000"/>
              </a:solidFill>
              <a:latin typeface="Arial"/>
              <a:ea typeface="Arial"/>
              <a:cs typeface="Arial"/>
              <a:sym typeface="Arial"/>
            </a:endParaRPr>
          </a:p>
          <a:p>
            <a:pPr indent="0" lvl="0" marL="0" rtl="0" algn="l">
              <a:spcBef>
                <a:spcPts val="1400"/>
              </a:spcBef>
              <a:spcAft>
                <a:spcPts val="0"/>
              </a:spcAft>
              <a:buNone/>
            </a:pPr>
            <a:r>
              <a:rPr b="1" lang="vi" sz="1500">
                <a:solidFill>
                  <a:srgbClr val="000000"/>
                </a:solidFill>
                <a:latin typeface="Arial"/>
                <a:ea typeface="Arial"/>
                <a:cs typeface="Arial"/>
                <a:sym typeface="Arial"/>
              </a:rPr>
              <a:t>Nhập hàng</a:t>
            </a:r>
            <a:endParaRPr>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nhập hàng từ đơn đặt hàng đã đặt sau khi kiểm kê hàng hóa dựa trên hàng hóa và hóa đơn từ nhà cung cấp.</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tồn kho sẽ được cập nhật sau khi nhập hàng.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in phiếu nhập hàng.</a:t>
            </a:r>
            <a:endParaRPr/>
          </a:p>
        </p:txBody>
      </p:sp>
      <p:cxnSp>
        <p:nvCxnSpPr>
          <p:cNvPr id="490" name="Google Shape;490;p42"/>
          <p:cNvCxnSpPr>
            <a:stCxn id="488" idx="1"/>
            <a:endCxn id="488" idx="3"/>
          </p:cNvCxnSpPr>
          <p:nvPr/>
        </p:nvCxnSpPr>
        <p:spPr>
          <a:xfrm>
            <a:off x="1303800" y="1172175"/>
            <a:ext cx="66027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3"/>
          <p:cNvSpPr txBox="1"/>
          <p:nvPr>
            <p:ph type="title"/>
          </p:nvPr>
        </p:nvSpPr>
        <p:spPr>
          <a:xfrm>
            <a:off x="1303800" y="598575"/>
            <a:ext cx="6602700" cy="114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Yêu cầu người dùng</a:t>
            </a:r>
            <a:endParaRPr/>
          </a:p>
        </p:txBody>
      </p:sp>
      <p:sp>
        <p:nvSpPr>
          <p:cNvPr id="496" name="Google Shape;496;p43"/>
          <p:cNvSpPr txBox="1"/>
          <p:nvPr>
            <p:ph idx="1" type="body"/>
          </p:nvPr>
        </p:nvSpPr>
        <p:spPr>
          <a:xfrm>
            <a:off x="1303800" y="1392050"/>
            <a:ext cx="7030500" cy="345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vi" sz="1500">
                <a:solidFill>
                  <a:srgbClr val="000000"/>
                </a:solidFill>
                <a:latin typeface="Arial"/>
                <a:ea typeface="Arial"/>
                <a:cs typeface="Arial"/>
                <a:sym typeface="Arial"/>
              </a:rPr>
              <a:t>Lịch sử bán hàng</a:t>
            </a:r>
            <a:endParaRPr b="1" sz="15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xem lại danh sách các hóa đơn được lập.</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tìm hóa đơn theo ngày.</a:t>
            </a:r>
            <a:endParaRPr>
              <a:solidFill>
                <a:srgbClr val="000000"/>
              </a:solidFill>
              <a:latin typeface="Arial"/>
              <a:ea typeface="Arial"/>
              <a:cs typeface="Arial"/>
              <a:sym typeface="Arial"/>
            </a:endParaRPr>
          </a:p>
          <a:p>
            <a:pPr indent="0" lvl="0" marL="0" rtl="0" algn="l">
              <a:spcBef>
                <a:spcPts val="1400"/>
              </a:spcBef>
              <a:spcAft>
                <a:spcPts val="0"/>
              </a:spcAft>
              <a:buNone/>
            </a:pPr>
            <a:r>
              <a:rPr b="1" lang="vi" sz="1500">
                <a:solidFill>
                  <a:srgbClr val="000000"/>
                </a:solidFill>
                <a:latin typeface="Arial"/>
                <a:ea typeface="Arial"/>
                <a:cs typeface="Arial"/>
                <a:sym typeface="Arial"/>
              </a:rPr>
              <a:t>DashBoard (Thống kê báo cáo)</a:t>
            </a:r>
            <a:endParaRPr>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xem thống kê công việc bán hàng.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quản lý</a:t>
            </a:r>
            <a:r>
              <a:rPr lang="vi">
                <a:solidFill>
                  <a:srgbClr val="000000"/>
                </a:solidFill>
                <a:latin typeface="Arial"/>
                <a:ea typeface="Arial"/>
                <a:cs typeface="Arial"/>
                <a:sym typeface="Arial"/>
              </a:rPr>
              <a:t>, tôi muốn in báo cáo thống kê.</a:t>
            </a:r>
            <a:endParaRPr>
              <a:solidFill>
                <a:srgbClr val="000000"/>
              </a:solidFill>
              <a:latin typeface="Arial"/>
              <a:ea typeface="Arial"/>
              <a:cs typeface="Arial"/>
              <a:sym typeface="Arial"/>
            </a:endParaRPr>
          </a:p>
          <a:p>
            <a:pPr indent="0" lvl="0" marL="0" rtl="0" algn="l">
              <a:spcBef>
                <a:spcPts val="1400"/>
              </a:spcBef>
              <a:spcAft>
                <a:spcPts val="0"/>
              </a:spcAft>
              <a:buNone/>
            </a:pPr>
            <a:r>
              <a:rPr b="1" lang="vi" sz="1500">
                <a:solidFill>
                  <a:srgbClr val="000000"/>
                </a:solidFill>
                <a:latin typeface="Arial"/>
                <a:ea typeface="Arial"/>
                <a:cs typeface="Arial"/>
                <a:sym typeface="Arial"/>
              </a:rPr>
              <a:t>Lập hóa đơn</a:t>
            </a:r>
            <a:endParaRPr>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Nhân viên</a:t>
            </a:r>
            <a:r>
              <a:rPr lang="vi">
                <a:solidFill>
                  <a:srgbClr val="000000"/>
                </a:solidFill>
                <a:latin typeface="Arial"/>
                <a:ea typeface="Arial"/>
                <a:cs typeface="Arial"/>
                <a:sym typeface="Arial"/>
              </a:rPr>
              <a:t>, tôi muốn xem danh sách menu để chọn món theo khách hàng.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Nhân viên</a:t>
            </a:r>
            <a:r>
              <a:rPr lang="vi">
                <a:solidFill>
                  <a:srgbClr val="000000"/>
                </a:solidFill>
                <a:latin typeface="Arial"/>
                <a:ea typeface="Arial"/>
                <a:cs typeface="Arial"/>
                <a:sym typeface="Arial"/>
              </a:rPr>
              <a:t>, tôi muốn thêm, xóa, sửa sản phẩm trong hóa đơn.</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b="1" lang="vi">
                <a:solidFill>
                  <a:srgbClr val="000000"/>
                </a:solidFill>
                <a:latin typeface="Arial"/>
                <a:ea typeface="Arial"/>
                <a:cs typeface="Arial"/>
                <a:sym typeface="Arial"/>
              </a:rPr>
              <a:t>Là Nhân viên</a:t>
            </a:r>
            <a:r>
              <a:rPr lang="vi">
                <a:solidFill>
                  <a:srgbClr val="000000"/>
                </a:solidFill>
                <a:latin typeface="Arial"/>
                <a:ea typeface="Arial"/>
                <a:cs typeface="Arial"/>
                <a:sym typeface="Arial"/>
              </a:rPr>
              <a:t>, tôi muốn in hóa đơn cho khách hàng khi thanh toán.</a:t>
            </a:r>
            <a:endParaRPr>
              <a:solidFill>
                <a:srgbClr val="000000"/>
              </a:solidFill>
              <a:latin typeface="Arial"/>
              <a:ea typeface="Arial"/>
              <a:cs typeface="Arial"/>
              <a:sym typeface="Arial"/>
            </a:endParaRPr>
          </a:p>
        </p:txBody>
      </p:sp>
      <p:cxnSp>
        <p:nvCxnSpPr>
          <p:cNvPr id="497" name="Google Shape;497;p43"/>
          <p:cNvCxnSpPr>
            <a:stCxn id="495" idx="1"/>
            <a:endCxn id="495" idx="3"/>
          </p:cNvCxnSpPr>
          <p:nvPr/>
        </p:nvCxnSpPr>
        <p:spPr>
          <a:xfrm>
            <a:off x="1303800" y="1172175"/>
            <a:ext cx="66027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id="502" name="Google Shape;502;p44"/>
          <p:cNvPicPr preferRelativeResize="0"/>
          <p:nvPr/>
        </p:nvPicPr>
        <p:blipFill>
          <a:blip r:embed="rId3">
            <a:alphaModFix/>
          </a:blip>
          <a:stretch>
            <a:fillRect/>
          </a:stretch>
        </p:blipFill>
        <p:spPr>
          <a:xfrm>
            <a:off x="0" y="-4"/>
            <a:ext cx="9144000" cy="5143500"/>
          </a:xfrm>
          <a:prstGeom prst="rect">
            <a:avLst/>
          </a:prstGeom>
          <a:noFill/>
          <a:ln>
            <a:noFill/>
          </a:ln>
        </p:spPr>
      </p:pic>
      <p:sp>
        <p:nvSpPr>
          <p:cNvPr id="503" name="Google Shape;503;p44"/>
          <p:cNvSpPr txBox="1"/>
          <p:nvPr>
            <p:ph type="title"/>
          </p:nvPr>
        </p:nvSpPr>
        <p:spPr>
          <a:xfrm>
            <a:off x="1228050" y="1358550"/>
            <a:ext cx="6518100" cy="1213200"/>
          </a:xfrm>
          <a:prstGeom prst="rect">
            <a:avLst/>
          </a:prstGeom>
          <a:effectLst>
            <a:outerShdw blurRad="85725" rotWithShape="0" algn="bl" dir="6420000" dist="57150">
              <a:srgbClr val="000000">
                <a:alpha val="22000"/>
              </a:srgbClr>
            </a:outerShdw>
          </a:effectLst>
        </p:spPr>
        <p:txBody>
          <a:bodyPr anchorCtr="0" anchor="ctr" bIns="91425" lIns="91425" spcFirstLastPara="1" rIns="91425" wrap="square" tIns="91425">
            <a:normAutofit/>
          </a:bodyPr>
          <a:lstStyle/>
          <a:p>
            <a:pPr indent="0" lvl="0" marL="0" rtl="0" algn="ctr">
              <a:spcBef>
                <a:spcPts val="0"/>
              </a:spcBef>
              <a:spcAft>
                <a:spcPts val="0"/>
              </a:spcAft>
              <a:buNone/>
            </a:pPr>
            <a:r>
              <a:rPr lang="vi" sz="4000">
                <a:solidFill>
                  <a:schemeClr val="lt1"/>
                </a:solidFill>
                <a:latin typeface="Delicious Handrawn"/>
                <a:ea typeface="Delicious Handrawn"/>
                <a:cs typeface="Delicious Handrawn"/>
                <a:sym typeface="Delicious Handrawn"/>
              </a:rPr>
              <a:t>THANKS FOR YOUR WATCHING!</a:t>
            </a:r>
            <a:endParaRPr sz="4000">
              <a:solidFill>
                <a:schemeClr val="lt1"/>
              </a:solidFill>
              <a:latin typeface="Delicious Handrawn"/>
              <a:ea typeface="Delicious Handrawn"/>
              <a:cs typeface="Delicious Handrawn"/>
              <a:sym typeface="Delicious Handraw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